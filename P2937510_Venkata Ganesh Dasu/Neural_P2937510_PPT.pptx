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4630400" cy="8229600"/>
  <p:notesSz cx="8229600" cy="14630400"/>
  <p:embeddedFontLst>
    <p:embeddedFont>
      <p:font typeface="Host Grotesk Medium" panose="020B0604020202020204" charset="0"/>
      <p:regular r:id="rId14"/>
    </p:embeddedFont>
    <p:embeddedFont>
      <p:font typeface="Roboto" panose="02000000000000000000" pitchFamily="2"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275909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txBody>
          <a:bodyPr/>
          <a:lstStyle/>
          <a:p>
            <a:endParaRPr lang="en-IN"/>
          </a:p>
        </p:txBody>
      </p:sp>
      <p:sp>
        <p:nvSpPr>
          <p:cNvPr id="3" name="Shape 1"/>
          <p:cNvSpPr/>
          <p:nvPr/>
        </p:nvSpPr>
        <p:spPr>
          <a:xfrm>
            <a:off x="0" y="0"/>
            <a:ext cx="14630400" cy="8229600"/>
          </a:xfrm>
          <a:prstGeom prst="rect">
            <a:avLst/>
          </a:prstGeom>
          <a:solidFill>
            <a:srgbClr val="FAF9F5"/>
          </a:solidFill>
          <a:ln/>
        </p:spPr>
        <p:txBody>
          <a:bodyPr/>
          <a:lstStyle/>
          <a:p>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4.png"/><Relationship Id="rId11" Type="http://schemas.openxmlformats.org/officeDocument/2006/relationships/image" Target="../media/image9.svg"/><Relationship Id="rId5" Type="http://schemas.openxmlformats.org/officeDocument/2006/relationships/image" Target="../media/image3.sv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2626519"/>
            <a:ext cx="13042821" cy="1240155"/>
          </a:xfrm>
          <a:prstGeom prst="rect">
            <a:avLst/>
          </a:prstGeom>
          <a:noFill/>
          <a:ln/>
        </p:spPr>
        <p:txBody>
          <a:bodyPr wrap="square" lIns="0" tIns="0" rIns="0" bIns="0" rtlCol="0" anchor="t"/>
          <a:lstStyle/>
          <a:p>
            <a:pPr marL="0" indent="0" algn="l">
              <a:lnSpc>
                <a:spcPts val="4850"/>
              </a:lnSpc>
              <a:buNone/>
            </a:pPr>
            <a:r>
              <a:rPr lang="en-US" sz="3900" dirty="0">
                <a:solidFill>
                  <a:srgbClr val="2E3C4E"/>
                </a:solidFill>
                <a:latin typeface="Host Grotesk Medium" pitchFamily="34" charset="0"/>
                <a:ea typeface="Host Grotesk Medium" pitchFamily="34" charset="-122"/>
                <a:cs typeface="Host Grotesk Medium" pitchFamily="34" charset="-120"/>
              </a:rPr>
              <a:t>Comparative Analysis of Neural Network Architectures on Fashion-MNIST</a:t>
            </a:r>
            <a:endParaRPr lang="en-US" sz="3900" dirty="0"/>
          </a:p>
        </p:txBody>
      </p:sp>
      <p:sp>
        <p:nvSpPr>
          <p:cNvPr id="3" name="Text 1"/>
          <p:cNvSpPr/>
          <p:nvPr/>
        </p:nvSpPr>
        <p:spPr>
          <a:xfrm>
            <a:off x="793790" y="4263509"/>
            <a:ext cx="13042821" cy="297656"/>
          </a:xfrm>
          <a:prstGeom prst="rect">
            <a:avLst/>
          </a:prstGeom>
          <a:noFill/>
          <a:ln/>
        </p:spPr>
        <p:txBody>
          <a:bodyPr wrap="non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Venkata Ganesh Dasu</a:t>
            </a:r>
          </a:p>
          <a:p>
            <a:pPr marL="0" indent="0" algn="l">
              <a:lnSpc>
                <a:spcPts val="2300"/>
              </a:lnSpc>
              <a:buNone/>
            </a:pPr>
            <a:endParaRPr lang="en-US" sz="1550" dirty="0">
              <a:solidFill>
                <a:srgbClr val="384653"/>
              </a:solidFill>
              <a:latin typeface="Roboto" pitchFamily="34" charset="0"/>
              <a:ea typeface="Roboto" pitchFamily="34" charset="-122"/>
              <a:cs typeface="Roboto" pitchFamily="34" charset="-120"/>
            </a:endParaRPr>
          </a:p>
          <a:p>
            <a:pPr marL="0" indent="0" algn="l">
              <a:lnSpc>
                <a:spcPts val="2300"/>
              </a:lnSpc>
              <a:buNone/>
            </a:pPr>
            <a:endParaRPr lang="en-US" sz="1550" dirty="0"/>
          </a:p>
        </p:txBody>
      </p:sp>
      <p:sp>
        <p:nvSpPr>
          <p:cNvPr id="4" name="Text 2"/>
          <p:cNvSpPr/>
          <p:nvPr/>
        </p:nvSpPr>
        <p:spPr>
          <a:xfrm>
            <a:off x="793790" y="4784408"/>
            <a:ext cx="13042821" cy="297656"/>
          </a:xfrm>
          <a:prstGeom prst="rect">
            <a:avLst/>
          </a:prstGeom>
          <a:noFill/>
          <a:ln/>
        </p:spPr>
        <p:txBody>
          <a:bodyPr wrap="non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P2937510</a:t>
            </a:r>
          </a:p>
          <a:p>
            <a:pPr marL="0" indent="0" algn="l">
              <a:lnSpc>
                <a:spcPts val="2300"/>
              </a:lnSpc>
              <a:buNone/>
            </a:pP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867495"/>
            <a:ext cx="4961811" cy="620078"/>
          </a:xfrm>
          <a:prstGeom prst="rect">
            <a:avLst/>
          </a:prstGeom>
          <a:noFill/>
          <a:ln/>
        </p:spPr>
        <p:txBody>
          <a:bodyPr wrap="none" lIns="0" tIns="0" rIns="0" bIns="0" rtlCol="0" anchor="t"/>
          <a:lstStyle/>
          <a:p>
            <a:pPr marL="0" indent="0" algn="l">
              <a:lnSpc>
                <a:spcPts val="4850"/>
              </a:lnSpc>
              <a:buNone/>
            </a:pPr>
            <a:r>
              <a:rPr lang="en-US" sz="3900" dirty="0">
                <a:solidFill>
                  <a:srgbClr val="2E3C4E"/>
                </a:solidFill>
                <a:latin typeface="Host Grotesk Medium" pitchFamily="34" charset="0"/>
                <a:ea typeface="Host Grotesk Medium" pitchFamily="34" charset="-122"/>
                <a:cs typeface="Host Grotesk Medium" pitchFamily="34" charset="-120"/>
              </a:rPr>
              <a:t>Introduction</a:t>
            </a:r>
            <a:endParaRPr lang="en-US" sz="3900" dirty="0"/>
          </a:p>
        </p:txBody>
      </p:sp>
      <p:sp>
        <p:nvSpPr>
          <p:cNvPr id="3" name="Text 1"/>
          <p:cNvSpPr/>
          <p:nvPr/>
        </p:nvSpPr>
        <p:spPr>
          <a:xfrm>
            <a:off x="793790" y="2983587"/>
            <a:ext cx="2564487" cy="310158"/>
          </a:xfrm>
          <a:prstGeom prst="rect">
            <a:avLst/>
          </a:prstGeom>
          <a:noFill/>
          <a:ln/>
        </p:spPr>
        <p:txBody>
          <a:bodyPr wrap="none" lIns="0" tIns="0" rIns="0" bIns="0" rtlCol="0" anchor="t"/>
          <a:lstStyle/>
          <a:p>
            <a:pPr marL="0" indent="0" algn="l">
              <a:lnSpc>
                <a:spcPts val="2400"/>
              </a:lnSpc>
              <a:buNone/>
            </a:pPr>
            <a:r>
              <a:rPr lang="en-US" sz="1950" dirty="0">
                <a:solidFill>
                  <a:srgbClr val="2E3C4E"/>
                </a:solidFill>
                <a:latin typeface="Host Grotesk Medium" pitchFamily="34" charset="0"/>
                <a:ea typeface="Host Grotesk Medium" pitchFamily="34" charset="-122"/>
                <a:cs typeface="Host Grotesk Medium" pitchFamily="34" charset="-120"/>
              </a:rPr>
              <a:t>Background &amp; Context</a:t>
            </a:r>
            <a:endParaRPr lang="en-US" sz="1950" dirty="0"/>
          </a:p>
        </p:txBody>
      </p:sp>
      <p:sp>
        <p:nvSpPr>
          <p:cNvPr id="4" name="Text 2"/>
          <p:cNvSpPr/>
          <p:nvPr/>
        </p:nvSpPr>
        <p:spPr>
          <a:xfrm>
            <a:off x="793790" y="3492103"/>
            <a:ext cx="6279356" cy="1190625"/>
          </a:xfrm>
          <a:prstGeom prst="rect">
            <a:avLst/>
          </a:prstGeom>
          <a:noFill/>
          <a:ln/>
        </p:spPr>
        <p:txBody>
          <a:bodyPr wrap="squar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Image classification remains a fundamental challenge in computer vision. The Fashion-MNIST dataset provides 70,000 grayscale images across 10 fashion categories, offering an ideal testbed for comparing neural network architectures.</a:t>
            </a:r>
            <a:endParaRPr lang="en-US" sz="1550" dirty="0"/>
          </a:p>
        </p:txBody>
      </p:sp>
      <p:sp>
        <p:nvSpPr>
          <p:cNvPr id="5" name="Text 3"/>
          <p:cNvSpPr/>
          <p:nvPr/>
        </p:nvSpPr>
        <p:spPr>
          <a:xfrm>
            <a:off x="7564874" y="2983587"/>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2E3C4E"/>
                </a:solidFill>
                <a:latin typeface="Host Grotesk Medium" pitchFamily="34" charset="0"/>
                <a:ea typeface="Host Grotesk Medium" pitchFamily="34" charset="-122"/>
                <a:cs typeface="Host Grotesk Medium" pitchFamily="34" charset="-120"/>
              </a:rPr>
              <a:t>Why This Topic?</a:t>
            </a:r>
            <a:endParaRPr lang="en-US" sz="1950" dirty="0"/>
          </a:p>
        </p:txBody>
      </p:sp>
      <p:sp>
        <p:nvSpPr>
          <p:cNvPr id="6" name="Text 4"/>
          <p:cNvSpPr/>
          <p:nvPr/>
        </p:nvSpPr>
        <p:spPr>
          <a:xfrm>
            <a:off x="7564874" y="3492103"/>
            <a:ext cx="6279356" cy="1190625"/>
          </a:xfrm>
          <a:prstGeom prst="rect">
            <a:avLst/>
          </a:prstGeom>
          <a:noFill/>
          <a:ln/>
        </p:spPr>
        <p:txBody>
          <a:bodyPr wrap="squar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Understanding the performance differences between basic ANNs and CNNs is crucial for selecting appropriate architectures. This study explores how spatial feature extraction impacts classification accuracy.</a:t>
            </a:r>
            <a:endParaRPr lang="en-US" sz="1550" dirty="0"/>
          </a:p>
        </p:txBody>
      </p:sp>
      <p:sp>
        <p:nvSpPr>
          <p:cNvPr id="7" name="Text 5"/>
          <p:cNvSpPr/>
          <p:nvPr/>
        </p:nvSpPr>
        <p:spPr>
          <a:xfrm>
            <a:off x="793790" y="5158978"/>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2E3C4E"/>
                </a:solidFill>
                <a:latin typeface="Host Grotesk Medium" pitchFamily="34" charset="0"/>
                <a:ea typeface="Host Grotesk Medium" pitchFamily="34" charset="-122"/>
                <a:cs typeface="Host Grotesk Medium" pitchFamily="34" charset="-120"/>
              </a:rPr>
              <a:t>The Core Question</a:t>
            </a:r>
            <a:endParaRPr lang="en-US" sz="1950" dirty="0"/>
          </a:p>
        </p:txBody>
      </p:sp>
      <p:sp>
        <p:nvSpPr>
          <p:cNvPr id="8" name="Text 6"/>
          <p:cNvSpPr/>
          <p:nvPr/>
        </p:nvSpPr>
        <p:spPr>
          <a:xfrm>
            <a:off x="793790" y="5766792"/>
            <a:ext cx="13042821" cy="595313"/>
          </a:xfrm>
          <a:prstGeom prst="rect">
            <a:avLst/>
          </a:prstGeom>
          <a:noFill/>
          <a:ln/>
        </p:spPr>
        <p:txBody>
          <a:bodyPr wrap="squar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How do different neural network architectures perform on fashion image classification, and can advanced techniques like Batch Normalization and learning rate scheduling significantly improve results?</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443157"/>
            <a:ext cx="4961811" cy="620078"/>
          </a:xfrm>
          <a:prstGeom prst="rect">
            <a:avLst/>
          </a:prstGeom>
          <a:noFill/>
          <a:ln/>
        </p:spPr>
        <p:txBody>
          <a:bodyPr wrap="none" lIns="0" tIns="0" rIns="0" bIns="0" rtlCol="0" anchor="t"/>
          <a:lstStyle/>
          <a:p>
            <a:pPr marL="0" indent="0" algn="l">
              <a:lnSpc>
                <a:spcPts val="4850"/>
              </a:lnSpc>
              <a:buNone/>
            </a:pPr>
            <a:r>
              <a:rPr lang="en-US" sz="3900" dirty="0">
                <a:solidFill>
                  <a:srgbClr val="2E3C4E"/>
                </a:solidFill>
                <a:latin typeface="Host Grotesk Medium" pitchFamily="34" charset="0"/>
                <a:ea typeface="Host Grotesk Medium" pitchFamily="34" charset="-122"/>
                <a:cs typeface="Host Grotesk Medium" pitchFamily="34" charset="-120"/>
              </a:rPr>
              <a:t>Objectives &amp; Goals</a:t>
            </a:r>
            <a:endParaRPr lang="en-US" sz="3900" dirty="0"/>
          </a:p>
        </p:txBody>
      </p:sp>
      <p:sp>
        <p:nvSpPr>
          <p:cNvPr id="3" name="Shape 1"/>
          <p:cNvSpPr/>
          <p:nvPr/>
        </p:nvSpPr>
        <p:spPr>
          <a:xfrm>
            <a:off x="793790" y="2460069"/>
            <a:ext cx="4215289" cy="2825472"/>
          </a:xfrm>
          <a:prstGeom prst="roundRect">
            <a:avLst>
              <a:gd name="adj" fmla="val 2950"/>
            </a:avLst>
          </a:prstGeom>
          <a:solidFill>
            <a:srgbClr val="D9EDF2"/>
          </a:solidFill>
          <a:ln w="7620">
            <a:solidFill>
              <a:srgbClr val="BFD3D8"/>
            </a:solidFill>
            <a:prstDash val="solid"/>
          </a:ln>
        </p:spPr>
        <p:txBody>
          <a:bodyPr/>
          <a:lstStyle/>
          <a:p>
            <a:endParaRPr lang="en-IN"/>
          </a:p>
        </p:txBody>
      </p:sp>
      <p:pic>
        <p:nvPicPr>
          <p:cNvPr id="4" name="Image 0" descr="preencoded.png"/>
          <p:cNvPicPr>
            <a:picLocks noChangeAspect="1"/>
          </p:cNvPicPr>
          <p:nvPr/>
        </p:nvPicPr>
        <p:blipFill>
          <a:blip r:embed="rId3"/>
          <a:stretch>
            <a:fillRect/>
          </a:stretch>
        </p:blipFill>
        <p:spPr>
          <a:xfrm>
            <a:off x="999768" y="2666048"/>
            <a:ext cx="595313" cy="595313"/>
          </a:xfrm>
          <a:prstGeom prst="rect">
            <a:avLst/>
          </a:prstGeom>
        </p:spPr>
      </p:pic>
      <p:pic>
        <p:nvPicPr>
          <p:cNvPr id="5"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63479" y="2829639"/>
            <a:ext cx="267891" cy="267891"/>
          </a:xfrm>
          <a:prstGeom prst="rect">
            <a:avLst/>
          </a:prstGeom>
        </p:spPr>
      </p:pic>
      <p:sp>
        <p:nvSpPr>
          <p:cNvPr id="6" name="Text 2"/>
          <p:cNvSpPr/>
          <p:nvPr/>
        </p:nvSpPr>
        <p:spPr>
          <a:xfrm>
            <a:off x="999768" y="3459718"/>
            <a:ext cx="2611517" cy="310158"/>
          </a:xfrm>
          <a:prstGeom prst="rect">
            <a:avLst/>
          </a:prstGeom>
          <a:noFill/>
          <a:ln/>
        </p:spPr>
        <p:txBody>
          <a:bodyPr wrap="none" lIns="0" tIns="0" rIns="0" bIns="0" rtlCol="0" anchor="t"/>
          <a:lstStyle/>
          <a:p>
            <a:pPr marL="0" indent="0" algn="l">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Compare Architectures</a:t>
            </a:r>
            <a:endParaRPr lang="en-US" sz="1950" dirty="0"/>
          </a:p>
        </p:txBody>
      </p:sp>
      <p:sp>
        <p:nvSpPr>
          <p:cNvPr id="7" name="Text 3"/>
          <p:cNvSpPr/>
          <p:nvPr/>
        </p:nvSpPr>
        <p:spPr>
          <a:xfrm>
            <a:off x="999768" y="3888938"/>
            <a:ext cx="3803333" cy="1190625"/>
          </a:xfrm>
          <a:prstGeom prst="rect">
            <a:avLst/>
          </a:prstGeom>
          <a:noFill/>
          <a:ln/>
        </p:spPr>
        <p:txBody>
          <a:bodyPr wrap="squar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Evaluate performance differences between Artificial Neural Networks (ANN) and Convolutional Neural Networks (CNN) on Fashion-MNIST classification.</a:t>
            </a:r>
            <a:endParaRPr lang="en-US" sz="1550" dirty="0"/>
          </a:p>
        </p:txBody>
      </p:sp>
      <p:sp>
        <p:nvSpPr>
          <p:cNvPr id="8" name="Shape 4"/>
          <p:cNvSpPr/>
          <p:nvPr/>
        </p:nvSpPr>
        <p:spPr>
          <a:xfrm>
            <a:off x="5207437" y="2460069"/>
            <a:ext cx="4215408" cy="2825472"/>
          </a:xfrm>
          <a:prstGeom prst="roundRect">
            <a:avLst>
              <a:gd name="adj" fmla="val 2950"/>
            </a:avLst>
          </a:prstGeom>
          <a:solidFill>
            <a:srgbClr val="D9EDF2"/>
          </a:solidFill>
          <a:ln w="7620">
            <a:solidFill>
              <a:srgbClr val="BFD3D8"/>
            </a:solidFill>
            <a:prstDash val="solid"/>
          </a:ln>
        </p:spPr>
        <p:txBody>
          <a:bodyPr/>
          <a:lstStyle/>
          <a:p>
            <a:endParaRPr lang="en-IN"/>
          </a:p>
        </p:txBody>
      </p:sp>
      <p:pic>
        <p:nvPicPr>
          <p:cNvPr id="9" name="Image 2" descr="preencoded.png"/>
          <p:cNvPicPr>
            <a:picLocks noChangeAspect="1"/>
          </p:cNvPicPr>
          <p:nvPr/>
        </p:nvPicPr>
        <p:blipFill>
          <a:blip r:embed="rId6"/>
          <a:stretch>
            <a:fillRect/>
          </a:stretch>
        </p:blipFill>
        <p:spPr>
          <a:xfrm>
            <a:off x="5413415" y="2666048"/>
            <a:ext cx="595313" cy="595313"/>
          </a:xfrm>
          <a:prstGeom prst="rect">
            <a:avLst/>
          </a:prstGeom>
        </p:spPr>
      </p:pic>
      <p:pic>
        <p:nvPicPr>
          <p:cNvPr id="10"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577126" y="2829639"/>
            <a:ext cx="267891" cy="267891"/>
          </a:xfrm>
          <a:prstGeom prst="rect">
            <a:avLst/>
          </a:prstGeom>
        </p:spPr>
      </p:pic>
      <p:sp>
        <p:nvSpPr>
          <p:cNvPr id="11" name="Text 5"/>
          <p:cNvSpPr/>
          <p:nvPr/>
        </p:nvSpPr>
        <p:spPr>
          <a:xfrm>
            <a:off x="5413415" y="3459718"/>
            <a:ext cx="2525792" cy="310158"/>
          </a:xfrm>
          <a:prstGeom prst="rect">
            <a:avLst/>
          </a:prstGeom>
          <a:noFill/>
          <a:ln/>
        </p:spPr>
        <p:txBody>
          <a:bodyPr wrap="none" lIns="0" tIns="0" rIns="0" bIns="0" rtlCol="0" anchor="t"/>
          <a:lstStyle/>
          <a:p>
            <a:pPr marL="0" indent="0" algn="l">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Assess Enhancements</a:t>
            </a:r>
            <a:endParaRPr lang="en-US" sz="1950" dirty="0"/>
          </a:p>
        </p:txBody>
      </p:sp>
      <p:sp>
        <p:nvSpPr>
          <p:cNvPr id="12" name="Text 6"/>
          <p:cNvSpPr/>
          <p:nvPr/>
        </p:nvSpPr>
        <p:spPr>
          <a:xfrm>
            <a:off x="5413415" y="3888938"/>
            <a:ext cx="3803452" cy="1190625"/>
          </a:xfrm>
          <a:prstGeom prst="rect">
            <a:avLst/>
          </a:prstGeom>
          <a:noFill/>
          <a:ln/>
        </p:spPr>
        <p:txBody>
          <a:bodyPr wrap="squar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Determine the impact of Batch Normalization and learning rate scheduling on model performance and training stability.</a:t>
            </a:r>
            <a:endParaRPr lang="en-US" sz="1550" dirty="0"/>
          </a:p>
        </p:txBody>
      </p:sp>
      <p:sp>
        <p:nvSpPr>
          <p:cNvPr id="13" name="Shape 7"/>
          <p:cNvSpPr/>
          <p:nvPr/>
        </p:nvSpPr>
        <p:spPr>
          <a:xfrm>
            <a:off x="9621203" y="2460069"/>
            <a:ext cx="4215289" cy="2825472"/>
          </a:xfrm>
          <a:prstGeom prst="roundRect">
            <a:avLst>
              <a:gd name="adj" fmla="val 2950"/>
            </a:avLst>
          </a:prstGeom>
          <a:solidFill>
            <a:srgbClr val="D9EDF2"/>
          </a:solidFill>
          <a:ln w="7620">
            <a:solidFill>
              <a:srgbClr val="BFD3D8"/>
            </a:solidFill>
            <a:prstDash val="solid"/>
          </a:ln>
        </p:spPr>
        <p:txBody>
          <a:bodyPr/>
          <a:lstStyle/>
          <a:p>
            <a:endParaRPr lang="en-IN"/>
          </a:p>
        </p:txBody>
      </p:sp>
      <p:pic>
        <p:nvPicPr>
          <p:cNvPr id="14" name="Image 4" descr="preencoded.png"/>
          <p:cNvPicPr>
            <a:picLocks noChangeAspect="1"/>
          </p:cNvPicPr>
          <p:nvPr/>
        </p:nvPicPr>
        <p:blipFill>
          <a:blip r:embed="rId9"/>
          <a:stretch>
            <a:fillRect/>
          </a:stretch>
        </p:blipFill>
        <p:spPr>
          <a:xfrm>
            <a:off x="9827181" y="2666048"/>
            <a:ext cx="595313" cy="595313"/>
          </a:xfrm>
          <a:prstGeom prst="rect">
            <a:avLst/>
          </a:prstGeom>
        </p:spPr>
      </p:pic>
      <p:pic>
        <p:nvPicPr>
          <p:cNvPr id="15" name="Image 5"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990892" y="2829639"/>
            <a:ext cx="267891" cy="267891"/>
          </a:xfrm>
          <a:prstGeom prst="rect">
            <a:avLst/>
          </a:prstGeom>
        </p:spPr>
      </p:pic>
      <p:sp>
        <p:nvSpPr>
          <p:cNvPr id="16" name="Text 8"/>
          <p:cNvSpPr/>
          <p:nvPr/>
        </p:nvSpPr>
        <p:spPr>
          <a:xfrm>
            <a:off x="9827181" y="3459718"/>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Identify Challenges</a:t>
            </a:r>
            <a:endParaRPr lang="en-US" sz="1950" dirty="0"/>
          </a:p>
        </p:txBody>
      </p:sp>
      <p:sp>
        <p:nvSpPr>
          <p:cNvPr id="17" name="Text 9"/>
          <p:cNvSpPr/>
          <p:nvPr/>
        </p:nvSpPr>
        <p:spPr>
          <a:xfrm>
            <a:off x="9827181" y="3888938"/>
            <a:ext cx="3803333" cy="1190625"/>
          </a:xfrm>
          <a:prstGeom prst="rect">
            <a:avLst/>
          </a:prstGeom>
          <a:noFill/>
          <a:ln/>
        </p:spPr>
        <p:txBody>
          <a:bodyPr wrap="squar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Analyze confusion patterns to understand which fashion categories are most difficult to distinguish and why fine-grained classification remains challenging.</a:t>
            </a:r>
            <a:endParaRPr lang="en-US" sz="1550" dirty="0"/>
          </a:p>
        </p:txBody>
      </p:sp>
      <p:sp>
        <p:nvSpPr>
          <p:cNvPr id="18" name="Text 10"/>
          <p:cNvSpPr/>
          <p:nvPr/>
        </p:nvSpPr>
        <p:spPr>
          <a:xfrm>
            <a:off x="793790" y="5583198"/>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2E3C4E"/>
                </a:solidFill>
                <a:latin typeface="Host Grotesk Medium" pitchFamily="34" charset="0"/>
                <a:ea typeface="Host Grotesk Medium" pitchFamily="34" charset="-122"/>
                <a:cs typeface="Host Grotesk Medium" pitchFamily="34" charset="-120"/>
              </a:rPr>
              <a:t>Expected Outcomes</a:t>
            </a:r>
            <a:endParaRPr lang="en-US" sz="1950" dirty="0"/>
          </a:p>
        </p:txBody>
      </p:sp>
      <p:sp>
        <p:nvSpPr>
          <p:cNvPr id="19" name="Text 11"/>
          <p:cNvSpPr/>
          <p:nvPr/>
        </p:nvSpPr>
        <p:spPr>
          <a:xfrm>
            <a:off x="793790" y="6191012"/>
            <a:ext cx="13042821" cy="595313"/>
          </a:xfrm>
          <a:prstGeom prst="rect">
            <a:avLst/>
          </a:prstGeom>
          <a:noFill/>
          <a:ln/>
        </p:spPr>
        <p:txBody>
          <a:bodyPr wrap="squar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Demonstrate CNN superiority for spatial data and validate the effectiveness of modern training techniques in achieving higher classification accuracy.</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874520"/>
            <a:ext cx="5863828" cy="620078"/>
          </a:xfrm>
          <a:prstGeom prst="rect">
            <a:avLst/>
          </a:prstGeom>
          <a:noFill/>
          <a:ln/>
        </p:spPr>
        <p:txBody>
          <a:bodyPr wrap="none" lIns="0" tIns="0" rIns="0" bIns="0" rtlCol="0" anchor="t"/>
          <a:lstStyle/>
          <a:p>
            <a:pPr marL="0" indent="0" algn="l">
              <a:lnSpc>
                <a:spcPts val="4850"/>
              </a:lnSpc>
              <a:buNone/>
            </a:pPr>
            <a:r>
              <a:rPr lang="en-US" sz="3900" dirty="0">
                <a:solidFill>
                  <a:srgbClr val="2E3C4E"/>
                </a:solidFill>
                <a:latin typeface="Host Grotesk Medium" pitchFamily="34" charset="0"/>
                <a:ea typeface="Host Grotesk Medium" pitchFamily="34" charset="-122"/>
                <a:cs typeface="Host Grotesk Medium" pitchFamily="34" charset="-120"/>
              </a:rPr>
              <a:t>Methodology &amp; Approach</a:t>
            </a:r>
            <a:endParaRPr lang="en-US" sz="3900" dirty="0"/>
          </a:p>
        </p:txBody>
      </p:sp>
      <p:sp>
        <p:nvSpPr>
          <p:cNvPr id="3" name="Text 1"/>
          <p:cNvSpPr/>
          <p:nvPr/>
        </p:nvSpPr>
        <p:spPr>
          <a:xfrm>
            <a:off x="793790" y="2891433"/>
            <a:ext cx="198358" cy="248007"/>
          </a:xfrm>
          <a:prstGeom prst="rect">
            <a:avLst/>
          </a:prstGeom>
          <a:noFill/>
          <a:ln/>
        </p:spPr>
        <p:txBody>
          <a:bodyPr wrap="none" lIns="0" tIns="0" rIns="0" bIns="0" rtlCol="0" anchor="t"/>
          <a:lstStyle/>
          <a:p>
            <a:pPr marL="0" indent="0" algn="l">
              <a:lnSpc>
                <a:spcPts val="2300"/>
              </a:lnSpc>
              <a:buNone/>
            </a:pPr>
            <a:r>
              <a:rPr lang="en-US" sz="1550" dirty="0">
                <a:solidFill>
                  <a:srgbClr val="384653"/>
                </a:solidFill>
                <a:latin typeface="Host Grotesk Light" pitchFamily="34" charset="0"/>
                <a:ea typeface="Host Grotesk Light" pitchFamily="34" charset="-122"/>
                <a:cs typeface="Host Grotesk Light" pitchFamily="34" charset="-120"/>
              </a:rPr>
              <a:t>01</a:t>
            </a:r>
            <a:endParaRPr lang="en-US" sz="1550" dirty="0"/>
          </a:p>
        </p:txBody>
      </p:sp>
      <p:pic>
        <p:nvPicPr>
          <p:cNvPr id="4" name="Image 0" descr="preencoded.png"/>
          <p:cNvPicPr>
            <a:picLocks noChangeAspect="1"/>
          </p:cNvPicPr>
          <p:nvPr/>
        </p:nvPicPr>
        <p:blipFill>
          <a:blip r:embed="rId3"/>
          <a:stretch>
            <a:fillRect/>
          </a:stretch>
        </p:blipFill>
        <p:spPr>
          <a:xfrm>
            <a:off x="793790" y="3205758"/>
            <a:ext cx="6422231" cy="22860"/>
          </a:xfrm>
          <a:prstGeom prst="rect">
            <a:avLst/>
          </a:prstGeom>
        </p:spPr>
      </p:pic>
      <p:sp>
        <p:nvSpPr>
          <p:cNvPr id="5" name="Text 2"/>
          <p:cNvSpPr/>
          <p:nvPr/>
        </p:nvSpPr>
        <p:spPr>
          <a:xfrm>
            <a:off x="793790" y="3350657"/>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Data Preparation</a:t>
            </a:r>
            <a:endParaRPr lang="en-US" sz="1950" dirty="0"/>
          </a:p>
        </p:txBody>
      </p:sp>
      <p:sp>
        <p:nvSpPr>
          <p:cNvPr id="6" name="Text 3"/>
          <p:cNvSpPr/>
          <p:nvPr/>
        </p:nvSpPr>
        <p:spPr>
          <a:xfrm>
            <a:off x="793790" y="3779877"/>
            <a:ext cx="6422231" cy="595313"/>
          </a:xfrm>
          <a:prstGeom prst="rect">
            <a:avLst/>
          </a:prstGeom>
          <a:noFill/>
          <a:ln/>
        </p:spPr>
        <p:txBody>
          <a:bodyPr wrap="squar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Convert 70,000 Fashion-MNIST images to PyTorch tensors with normalization. Split training data 80/20 for training and validation.</a:t>
            </a:r>
            <a:endParaRPr lang="en-US" sz="1550" dirty="0"/>
          </a:p>
        </p:txBody>
      </p:sp>
      <p:sp>
        <p:nvSpPr>
          <p:cNvPr id="7" name="Text 4"/>
          <p:cNvSpPr/>
          <p:nvPr/>
        </p:nvSpPr>
        <p:spPr>
          <a:xfrm>
            <a:off x="7414379" y="2891433"/>
            <a:ext cx="198358" cy="248007"/>
          </a:xfrm>
          <a:prstGeom prst="rect">
            <a:avLst/>
          </a:prstGeom>
          <a:noFill/>
          <a:ln/>
        </p:spPr>
        <p:txBody>
          <a:bodyPr wrap="none" lIns="0" tIns="0" rIns="0" bIns="0" rtlCol="0" anchor="t"/>
          <a:lstStyle/>
          <a:p>
            <a:pPr marL="0" indent="0" algn="l">
              <a:lnSpc>
                <a:spcPts val="2300"/>
              </a:lnSpc>
              <a:buNone/>
            </a:pPr>
            <a:r>
              <a:rPr lang="en-US" sz="1550" dirty="0">
                <a:solidFill>
                  <a:srgbClr val="384653"/>
                </a:solidFill>
                <a:latin typeface="Host Grotesk Light" pitchFamily="34" charset="0"/>
                <a:ea typeface="Host Grotesk Light" pitchFamily="34" charset="-122"/>
                <a:cs typeface="Host Grotesk Light" pitchFamily="34" charset="-120"/>
              </a:rPr>
              <a:t>02</a:t>
            </a:r>
            <a:endParaRPr lang="en-US" sz="1550" dirty="0"/>
          </a:p>
        </p:txBody>
      </p:sp>
      <p:pic>
        <p:nvPicPr>
          <p:cNvPr id="8" name="Image 1" descr="preencoded.png"/>
          <p:cNvPicPr>
            <a:picLocks noChangeAspect="1"/>
          </p:cNvPicPr>
          <p:nvPr/>
        </p:nvPicPr>
        <p:blipFill>
          <a:blip r:embed="rId3"/>
          <a:stretch>
            <a:fillRect/>
          </a:stretch>
        </p:blipFill>
        <p:spPr>
          <a:xfrm>
            <a:off x="7414379" y="3205758"/>
            <a:ext cx="6422231" cy="22860"/>
          </a:xfrm>
          <a:prstGeom prst="rect">
            <a:avLst/>
          </a:prstGeom>
        </p:spPr>
      </p:pic>
      <p:sp>
        <p:nvSpPr>
          <p:cNvPr id="9" name="Text 5"/>
          <p:cNvSpPr/>
          <p:nvPr/>
        </p:nvSpPr>
        <p:spPr>
          <a:xfrm>
            <a:off x="7414379" y="3350657"/>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Architecture Design</a:t>
            </a:r>
            <a:endParaRPr lang="en-US" sz="1950" dirty="0"/>
          </a:p>
        </p:txBody>
      </p:sp>
      <p:sp>
        <p:nvSpPr>
          <p:cNvPr id="10" name="Text 6"/>
          <p:cNvSpPr/>
          <p:nvPr/>
        </p:nvSpPr>
        <p:spPr>
          <a:xfrm>
            <a:off x="7414379" y="3779877"/>
            <a:ext cx="6422231" cy="595313"/>
          </a:xfrm>
          <a:prstGeom prst="rect">
            <a:avLst/>
          </a:prstGeom>
          <a:noFill/>
          <a:ln/>
        </p:spPr>
        <p:txBody>
          <a:bodyPr wrap="squar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Implement two base models: Simple ANN (Multi-Layer Perceptron) and CNN with convolutional layers for spatial feature extraction.</a:t>
            </a:r>
            <a:endParaRPr lang="en-US" sz="1550" dirty="0"/>
          </a:p>
        </p:txBody>
      </p:sp>
      <p:sp>
        <p:nvSpPr>
          <p:cNvPr id="11" name="Text 7"/>
          <p:cNvSpPr/>
          <p:nvPr/>
        </p:nvSpPr>
        <p:spPr>
          <a:xfrm>
            <a:off x="793790" y="4722376"/>
            <a:ext cx="198358" cy="248007"/>
          </a:xfrm>
          <a:prstGeom prst="rect">
            <a:avLst/>
          </a:prstGeom>
          <a:noFill/>
          <a:ln/>
        </p:spPr>
        <p:txBody>
          <a:bodyPr wrap="none" lIns="0" tIns="0" rIns="0" bIns="0" rtlCol="0" anchor="t"/>
          <a:lstStyle/>
          <a:p>
            <a:pPr marL="0" indent="0" algn="l">
              <a:lnSpc>
                <a:spcPts val="2300"/>
              </a:lnSpc>
              <a:buNone/>
            </a:pPr>
            <a:r>
              <a:rPr lang="en-US" sz="1550" dirty="0">
                <a:solidFill>
                  <a:srgbClr val="384653"/>
                </a:solidFill>
                <a:latin typeface="Host Grotesk Light" pitchFamily="34" charset="0"/>
                <a:ea typeface="Host Grotesk Light" pitchFamily="34" charset="-122"/>
                <a:cs typeface="Host Grotesk Light" pitchFamily="34" charset="-120"/>
              </a:rPr>
              <a:t>03</a:t>
            </a:r>
            <a:endParaRPr lang="en-US" sz="1550" dirty="0"/>
          </a:p>
        </p:txBody>
      </p:sp>
      <p:pic>
        <p:nvPicPr>
          <p:cNvPr id="12" name="Image 2" descr="preencoded.png"/>
          <p:cNvPicPr>
            <a:picLocks noChangeAspect="1"/>
          </p:cNvPicPr>
          <p:nvPr/>
        </p:nvPicPr>
        <p:blipFill>
          <a:blip r:embed="rId3"/>
          <a:stretch>
            <a:fillRect/>
          </a:stretch>
        </p:blipFill>
        <p:spPr>
          <a:xfrm>
            <a:off x="793790" y="5016937"/>
            <a:ext cx="6422231" cy="22860"/>
          </a:xfrm>
          <a:prstGeom prst="rect">
            <a:avLst/>
          </a:prstGeom>
        </p:spPr>
      </p:pic>
      <p:sp>
        <p:nvSpPr>
          <p:cNvPr id="13" name="Text 8"/>
          <p:cNvSpPr/>
          <p:nvPr/>
        </p:nvSpPr>
        <p:spPr>
          <a:xfrm>
            <a:off x="793790" y="5181600"/>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Initial Training</a:t>
            </a:r>
            <a:endParaRPr lang="en-US" sz="1950" dirty="0"/>
          </a:p>
        </p:txBody>
      </p:sp>
      <p:sp>
        <p:nvSpPr>
          <p:cNvPr id="14" name="Text 9"/>
          <p:cNvSpPr/>
          <p:nvPr/>
        </p:nvSpPr>
        <p:spPr>
          <a:xfrm>
            <a:off x="793790" y="5610820"/>
            <a:ext cx="6422231" cy="595313"/>
          </a:xfrm>
          <a:prstGeom prst="rect">
            <a:avLst/>
          </a:prstGeom>
          <a:noFill/>
          <a:ln/>
        </p:spPr>
        <p:txBody>
          <a:bodyPr wrap="squar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Train both models using Cross-Entropy loss and Adam optimizer. Evaluate on test set and generate confusion matrices.</a:t>
            </a:r>
            <a:endParaRPr lang="en-US" sz="1550" dirty="0"/>
          </a:p>
        </p:txBody>
      </p:sp>
      <p:sp>
        <p:nvSpPr>
          <p:cNvPr id="15" name="Text 10"/>
          <p:cNvSpPr/>
          <p:nvPr/>
        </p:nvSpPr>
        <p:spPr>
          <a:xfrm>
            <a:off x="7414379" y="4722376"/>
            <a:ext cx="198358" cy="248007"/>
          </a:xfrm>
          <a:prstGeom prst="rect">
            <a:avLst/>
          </a:prstGeom>
          <a:noFill/>
          <a:ln/>
        </p:spPr>
        <p:txBody>
          <a:bodyPr wrap="none" lIns="0" tIns="0" rIns="0" bIns="0" rtlCol="0" anchor="t"/>
          <a:lstStyle/>
          <a:p>
            <a:pPr marL="0" indent="0" algn="l">
              <a:lnSpc>
                <a:spcPts val="2300"/>
              </a:lnSpc>
              <a:buNone/>
            </a:pPr>
            <a:r>
              <a:rPr lang="en-US" sz="1550" dirty="0">
                <a:solidFill>
                  <a:srgbClr val="384653"/>
                </a:solidFill>
                <a:latin typeface="Host Grotesk Light" pitchFamily="34" charset="0"/>
                <a:ea typeface="Host Grotesk Light" pitchFamily="34" charset="-122"/>
                <a:cs typeface="Host Grotesk Light" pitchFamily="34" charset="-120"/>
              </a:rPr>
              <a:t>04</a:t>
            </a:r>
            <a:endParaRPr lang="en-US" sz="1550" dirty="0"/>
          </a:p>
        </p:txBody>
      </p:sp>
      <p:pic>
        <p:nvPicPr>
          <p:cNvPr id="16" name="Image 3" descr="preencoded.png"/>
          <p:cNvPicPr>
            <a:picLocks noChangeAspect="1"/>
          </p:cNvPicPr>
          <p:nvPr/>
        </p:nvPicPr>
        <p:blipFill>
          <a:blip r:embed="rId3"/>
          <a:stretch>
            <a:fillRect/>
          </a:stretch>
        </p:blipFill>
        <p:spPr>
          <a:xfrm>
            <a:off x="7414379" y="5016937"/>
            <a:ext cx="6422231" cy="22860"/>
          </a:xfrm>
          <a:prstGeom prst="rect">
            <a:avLst/>
          </a:prstGeom>
        </p:spPr>
      </p:pic>
      <p:sp>
        <p:nvSpPr>
          <p:cNvPr id="17" name="Text 11"/>
          <p:cNvSpPr/>
          <p:nvPr/>
        </p:nvSpPr>
        <p:spPr>
          <a:xfrm>
            <a:off x="7414379" y="5181600"/>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Enhancement Phase</a:t>
            </a:r>
            <a:endParaRPr lang="en-US" sz="1950" dirty="0"/>
          </a:p>
        </p:txBody>
      </p:sp>
      <p:sp>
        <p:nvSpPr>
          <p:cNvPr id="18" name="Text 12"/>
          <p:cNvSpPr/>
          <p:nvPr/>
        </p:nvSpPr>
        <p:spPr>
          <a:xfrm>
            <a:off x="7414379" y="5610820"/>
            <a:ext cx="6422231" cy="595313"/>
          </a:xfrm>
          <a:prstGeom prst="rect">
            <a:avLst/>
          </a:prstGeom>
          <a:noFill/>
          <a:ln/>
        </p:spPr>
        <p:txBody>
          <a:bodyPr wrap="squar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Integrate Batch Normalization layers and StepLR scheduler. Retrain enhanced models (MLP_BN and CNN_BN) for comparison.</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793081"/>
            <a:ext cx="4961811" cy="620078"/>
          </a:xfrm>
          <a:prstGeom prst="rect">
            <a:avLst/>
          </a:prstGeom>
          <a:noFill/>
          <a:ln/>
        </p:spPr>
        <p:txBody>
          <a:bodyPr wrap="none" lIns="0" tIns="0" rIns="0" bIns="0" rtlCol="0" anchor="t"/>
          <a:lstStyle/>
          <a:p>
            <a:pPr marL="0" indent="0" algn="l">
              <a:lnSpc>
                <a:spcPts val="4850"/>
              </a:lnSpc>
              <a:buNone/>
            </a:pPr>
            <a:r>
              <a:rPr lang="en-US" sz="3900" dirty="0">
                <a:solidFill>
                  <a:srgbClr val="2E3C4E"/>
                </a:solidFill>
                <a:latin typeface="Host Grotesk Medium" pitchFamily="34" charset="0"/>
                <a:ea typeface="Host Grotesk Medium" pitchFamily="34" charset="-122"/>
                <a:cs typeface="Host Grotesk Medium" pitchFamily="34" charset="-120"/>
              </a:rPr>
              <a:t>Data &amp; Materials</a:t>
            </a:r>
            <a:endParaRPr lang="en-US" sz="3900" dirty="0"/>
          </a:p>
        </p:txBody>
      </p:sp>
      <p:sp>
        <p:nvSpPr>
          <p:cNvPr id="3" name="Text 1"/>
          <p:cNvSpPr/>
          <p:nvPr/>
        </p:nvSpPr>
        <p:spPr>
          <a:xfrm>
            <a:off x="793790" y="2492454"/>
            <a:ext cx="2511862" cy="310158"/>
          </a:xfrm>
          <a:prstGeom prst="rect">
            <a:avLst/>
          </a:prstGeom>
          <a:noFill/>
          <a:ln/>
        </p:spPr>
        <p:txBody>
          <a:bodyPr wrap="none" lIns="0" tIns="0" rIns="0" bIns="0" rtlCol="0" anchor="t"/>
          <a:lstStyle/>
          <a:p>
            <a:pPr marL="0" indent="0" algn="l">
              <a:lnSpc>
                <a:spcPts val="2400"/>
              </a:lnSpc>
              <a:buNone/>
            </a:pPr>
            <a:r>
              <a:rPr lang="en-US" sz="1950" dirty="0">
                <a:solidFill>
                  <a:srgbClr val="2E3C4E"/>
                </a:solidFill>
                <a:latin typeface="Host Grotesk Medium" pitchFamily="34" charset="0"/>
                <a:ea typeface="Host Grotesk Medium" pitchFamily="34" charset="-122"/>
                <a:cs typeface="Host Grotesk Medium" pitchFamily="34" charset="-120"/>
              </a:rPr>
              <a:t>Dataset Specifications</a:t>
            </a:r>
            <a:endParaRPr lang="en-US" sz="1950" dirty="0"/>
          </a:p>
        </p:txBody>
      </p:sp>
      <p:sp>
        <p:nvSpPr>
          <p:cNvPr id="4" name="Text 2"/>
          <p:cNvSpPr/>
          <p:nvPr/>
        </p:nvSpPr>
        <p:spPr>
          <a:xfrm>
            <a:off x="793790" y="3100268"/>
            <a:ext cx="13042821" cy="297656"/>
          </a:xfrm>
          <a:prstGeom prst="rect">
            <a:avLst/>
          </a:prstGeom>
          <a:noFill/>
          <a:ln/>
        </p:spPr>
        <p:txBody>
          <a:bodyPr wrap="none" lIns="0" tIns="0" rIns="0" bIns="0" rtlCol="0" anchor="t"/>
          <a:lstStyle/>
          <a:p>
            <a:pPr marL="342900" indent="-342900" algn="l">
              <a:lnSpc>
                <a:spcPts val="2300"/>
              </a:lnSpc>
              <a:buSzPct val="100000"/>
              <a:buChar char="•"/>
            </a:pPr>
            <a:r>
              <a:rPr lang="en-US" sz="1550" dirty="0">
                <a:solidFill>
                  <a:srgbClr val="384653"/>
                </a:solidFill>
                <a:latin typeface="Roboto" pitchFamily="34" charset="0"/>
                <a:ea typeface="Roboto" pitchFamily="34" charset="-122"/>
                <a:cs typeface="Roboto" pitchFamily="34" charset="-120"/>
              </a:rPr>
              <a:t>70,000 grayscale images (28x28 pixels)</a:t>
            </a:r>
            <a:endParaRPr lang="en-US" sz="1550" dirty="0"/>
          </a:p>
        </p:txBody>
      </p:sp>
      <p:sp>
        <p:nvSpPr>
          <p:cNvPr id="5" name="Text 3"/>
          <p:cNvSpPr/>
          <p:nvPr/>
        </p:nvSpPr>
        <p:spPr>
          <a:xfrm>
            <a:off x="793790" y="3467338"/>
            <a:ext cx="13042821" cy="297656"/>
          </a:xfrm>
          <a:prstGeom prst="rect">
            <a:avLst/>
          </a:prstGeom>
          <a:noFill/>
          <a:ln/>
        </p:spPr>
        <p:txBody>
          <a:bodyPr wrap="none" lIns="0" tIns="0" rIns="0" bIns="0" rtlCol="0" anchor="t"/>
          <a:lstStyle/>
          <a:p>
            <a:pPr marL="342900" indent="-342900" algn="l">
              <a:lnSpc>
                <a:spcPts val="2300"/>
              </a:lnSpc>
              <a:buSzPct val="100000"/>
              <a:buChar char="•"/>
            </a:pPr>
            <a:r>
              <a:rPr lang="en-US" sz="1550" dirty="0">
                <a:solidFill>
                  <a:srgbClr val="384653"/>
                </a:solidFill>
                <a:latin typeface="Roboto" pitchFamily="34" charset="0"/>
                <a:ea typeface="Roboto" pitchFamily="34" charset="-122"/>
                <a:cs typeface="Roboto" pitchFamily="34" charset="-120"/>
              </a:rPr>
              <a:t>60,000 training images, 10,000 test images</a:t>
            </a:r>
            <a:endParaRPr lang="en-US" sz="1550" dirty="0"/>
          </a:p>
        </p:txBody>
      </p:sp>
      <p:sp>
        <p:nvSpPr>
          <p:cNvPr id="6" name="Text 4"/>
          <p:cNvSpPr/>
          <p:nvPr/>
        </p:nvSpPr>
        <p:spPr>
          <a:xfrm>
            <a:off x="793790" y="3834408"/>
            <a:ext cx="13042821" cy="297656"/>
          </a:xfrm>
          <a:prstGeom prst="rect">
            <a:avLst/>
          </a:prstGeom>
          <a:noFill/>
          <a:ln/>
        </p:spPr>
        <p:txBody>
          <a:bodyPr wrap="none" lIns="0" tIns="0" rIns="0" bIns="0" rtlCol="0" anchor="t"/>
          <a:lstStyle/>
          <a:p>
            <a:pPr marL="342900" indent="-342900" algn="l">
              <a:lnSpc>
                <a:spcPts val="2300"/>
              </a:lnSpc>
              <a:buSzPct val="100000"/>
              <a:buChar char="•"/>
            </a:pPr>
            <a:r>
              <a:rPr lang="en-US" sz="1550" dirty="0">
                <a:solidFill>
                  <a:srgbClr val="384653"/>
                </a:solidFill>
                <a:latin typeface="Roboto" pitchFamily="34" charset="0"/>
                <a:ea typeface="Roboto" pitchFamily="34" charset="-122"/>
                <a:cs typeface="Roboto" pitchFamily="34" charset="-120"/>
              </a:rPr>
              <a:t>10 fashion categories: T-shirt, Trouser, Pullover, Dress, Coat, Sandal, Shirt, Sneaker, Bag, Ankle Boot</a:t>
            </a:r>
            <a:endParaRPr lang="en-US" sz="1550" dirty="0"/>
          </a:p>
        </p:txBody>
      </p:sp>
      <p:sp>
        <p:nvSpPr>
          <p:cNvPr id="7" name="Text 5"/>
          <p:cNvSpPr/>
          <p:nvPr/>
        </p:nvSpPr>
        <p:spPr>
          <a:xfrm>
            <a:off x="793790" y="4429720"/>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2E3C4E"/>
                </a:solidFill>
                <a:latin typeface="Host Grotesk Medium" pitchFamily="34" charset="0"/>
                <a:ea typeface="Host Grotesk Medium" pitchFamily="34" charset="-122"/>
                <a:cs typeface="Host Grotesk Medium" pitchFamily="34" charset="-120"/>
              </a:rPr>
              <a:t>Preprocessing Steps</a:t>
            </a:r>
            <a:endParaRPr lang="en-US" sz="1950" dirty="0"/>
          </a:p>
        </p:txBody>
      </p:sp>
      <p:sp>
        <p:nvSpPr>
          <p:cNvPr id="8" name="Text 6"/>
          <p:cNvSpPr/>
          <p:nvPr/>
        </p:nvSpPr>
        <p:spPr>
          <a:xfrm>
            <a:off x="793790" y="5037534"/>
            <a:ext cx="13042821" cy="297656"/>
          </a:xfrm>
          <a:prstGeom prst="rect">
            <a:avLst/>
          </a:prstGeom>
          <a:noFill/>
          <a:ln/>
        </p:spPr>
        <p:txBody>
          <a:bodyPr wrap="none" lIns="0" tIns="0" rIns="0" bIns="0" rtlCol="0" anchor="t"/>
          <a:lstStyle/>
          <a:p>
            <a:pPr marL="342900" indent="-342900" algn="l">
              <a:lnSpc>
                <a:spcPts val="2300"/>
              </a:lnSpc>
              <a:buSzPct val="100000"/>
              <a:buChar char="•"/>
            </a:pPr>
            <a:r>
              <a:rPr lang="en-US" sz="1550" dirty="0">
                <a:solidFill>
                  <a:srgbClr val="384653"/>
                </a:solidFill>
                <a:latin typeface="Roboto" pitchFamily="34" charset="0"/>
                <a:ea typeface="Roboto" pitchFamily="34" charset="-122"/>
                <a:cs typeface="Roboto" pitchFamily="34" charset="-120"/>
              </a:rPr>
              <a:t>Conversion to PyTorch tensors</a:t>
            </a:r>
            <a:endParaRPr lang="en-US" sz="1550" dirty="0"/>
          </a:p>
        </p:txBody>
      </p:sp>
      <p:sp>
        <p:nvSpPr>
          <p:cNvPr id="9" name="Text 7"/>
          <p:cNvSpPr/>
          <p:nvPr/>
        </p:nvSpPr>
        <p:spPr>
          <a:xfrm>
            <a:off x="793790" y="5404604"/>
            <a:ext cx="13042821" cy="297656"/>
          </a:xfrm>
          <a:prstGeom prst="rect">
            <a:avLst/>
          </a:prstGeom>
          <a:noFill/>
          <a:ln/>
        </p:spPr>
        <p:txBody>
          <a:bodyPr wrap="none" lIns="0" tIns="0" rIns="0" bIns="0" rtlCol="0" anchor="t"/>
          <a:lstStyle/>
          <a:p>
            <a:pPr marL="342900" indent="-342900" algn="l">
              <a:lnSpc>
                <a:spcPts val="2300"/>
              </a:lnSpc>
              <a:buSzPct val="100000"/>
              <a:buChar char="•"/>
            </a:pPr>
            <a:r>
              <a:rPr lang="en-US" sz="1550" dirty="0">
                <a:solidFill>
                  <a:srgbClr val="384653"/>
                </a:solidFill>
                <a:latin typeface="Roboto" pitchFamily="34" charset="0"/>
                <a:ea typeface="Roboto" pitchFamily="34" charset="-122"/>
                <a:cs typeface="Roboto" pitchFamily="34" charset="-120"/>
              </a:rPr>
              <a:t>Pixel value normalization</a:t>
            </a:r>
            <a:endParaRPr lang="en-US" sz="1550" dirty="0"/>
          </a:p>
        </p:txBody>
      </p:sp>
      <p:sp>
        <p:nvSpPr>
          <p:cNvPr id="10" name="Text 8"/>
          <p:cNvSpPr/>
          <p:nvPr/>
        </p:nvSpPr>
        <p:spPr>
          <a:xfrm>
            <a:off x="793790" y="5771674"/>
            <a:ext cx="13042821" cy="297656"/>
          </a:xfrm>
          <a:prstGeom prst="rect">
            <a:avLst/>
          </a:prstGeom>
          <a:noFill/>
          <a:ln/>
        </p:spPr>
        <p:txBody>
          <a:bodyPr wrap="none" lIns="0" tIns="0" rIns="0" bIns="0" rtlCol="0" anchor="t"/>
          <a:lstStyle/>
          <a:p>
            <a:pPr marL="342900" indent="-342900" algn="l">
              <a:lnSpc>
                <a:spcPts val="2300"/>
              </a:lnSpc>
              <a:buSzPct val="100000"/>
              <a:buChar char="•"/>
            </a:pPr>
            <a:r>
              <a:rPr lang="en-US" sz="1550" dirty="0">
                <a:solidFill>
                  <a:srgbClr val="384653"/>
                </a:solidFill>
                <a:latin typeface="Roboto" pitchFamily="34" charset="0"/>
                <a:ea typeface="Roboto" pitchFamily="34" charset="-122"/>
                <a:cs typeface="Roboto" pitchFamily="34" charset="-120"/>
              </a:rPr>
              <a:t>DataLoader creation for efficient batch processing</a:t>
            </a:r>
            <a:endParaRPr lang="en-US" sz="1550" dirty="0"/>
          </a:p>
        </p:txBody>
      </p:sp>
      <p:sp>
        <p:nvSpPr>
          <p:cNvPr id="11" name="Text 9"/>
          <p:cNvSpPr/>
          <p:nvPr/>
        </p:nvSpPr>
        <p:spPr>
          <a:xfrm>
            <a:off x="793790" y="6138743"/>
            <a:ext cx="13042821" cy="297656"/>
          </a:xfrm>
          <a:prstGeom prst="rect">
            <a:avLst/>
          </a:prstGeom>
          <a:noFill/>
          <a:ln/>
        </p:spPr>
        <p:txBody>
          <a:bodyPr wrap="none" lIns="0" tIns="0" rIns="0" bIns="0" rtlCol="0" anchor="t"/>
          <a:lstStyle/>
          <a:p>
            <a:pPr marL="342900" indent="-342900" algn="l">
              <a:lnSpc>
                <a:spcPts val="2300"/>
              </a:lnSpc>
              <a:buSzPct val="100000"/>
              <a:buChar char="•"/>
            </a:pPr>
            <a:r>
              <a:rPr lang="en-US" sz="1550" dirty="0">
                <a:solidFill>
                  <a:srgbClr val="384653"/>
                </a:solidFill>
                <a:latin typeface="Roboto" pitchFamily="34" charset="0"/>
                <a:ea typeface="Roboto" pitchFamily="34" charset="-122"/>
                <a:cs typeface="Roboto" pitchFamily="34" charset="-120"/>
              </a:rPr>
              <a:t>GPU utilization when available</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474470"/>
            <a:ext cx="5436156" cy="620078"/>
          </a:xfrm>
          <a:prstGeom prst="rect">
            <a:avLst/>
          </a:prstGeom>
          <a:noFill/>
          <a:ln/>
        </p:spPr>
        <p:txBody>
          <a:bodyPr wrap="none" lIns="0" tIns="0" rIns="0" bIns="0" rtlCol="0" anchor="t"/>
          <a:lstStyle/>
          <a:p>
            <a:pPr marL="0" indent="0" algn="l">
              <a:lnSpc>
                <a:spcPts val="4850"/>
              </a:lnSpc>
              <a:buNone/>
            </a:pPr>
            <a:r>
              <a:rPr lang="en-US" sz="3900" dirty="0">
                <a:solidFill>
                  <a:srgbClr val="2E3C4E"/>
                </a:solidFill>
                <a:latin typeface="Host Grotesk Medium" pitchFamily="34" charset="0"/>
                <a:ea typeface="Host Grotesk Medium" pitchFamily="34" charset="-122"/>
                <a:cs typeface="Host Grotesk Medium" pitchFamily="34" charset="-120"/>
              </a:rPr>
              <a:t>Implementation Process</a:t>
            </a:r>
            <a:endParaRPr lang="en-US" sz="3900" dirty="0"/>
          </a:p>
        </p:txBody>
      </p:sp>
      <p:pic>
        <p:nvPicPr>
          <p:cNvPr id="3" name="Image 0" descr="preencoded.png"/>
          <p:cNvPicPr>
            <a:picLocks noChangeAspect="1"/>
          </p:cNvPicPr>
          <p:nvPr/>
        </p:nvPicPr>
        <p:blipFill>
          <a:blip r:embed="rId3"/>
          <a:stretch>
            <a:fillRect/>
          </a:stretch>
        </p:blipFill>
        <p:spPr>
          <a:xfrm>
            <a:off x="793790" y="2491383"/>
            <a:ext cx="992267" cy="1421249"/>
          </a:xfrm>
          <a:prstGeom prst="rect">
            <a:avLst/>
          </a:prstGeom>
        </p:spPr>
      </p:pic>
      <p:sp>
        <p:nvSpPr>
          <p:cNvPr id="4" name="Text 1"/>
          <p:cNvSpPr/>
          <p:nvPr/>
        </p:nvSpPr>
        <p:spPr>
          <a:xfrm>
            <a:off x="1984415" y="2689741"/>
            <a:ext cx="2803565" cy="310158"/>
          </a:xfrm>
          <a:prstGeom prst="rect">
            <a:avLst/>
          </a:prstGeom>
          <a:noFill/>
          <a:ln/>
        </p:spPr>
        <p:txBody>
          <a:bodyPr wrap="none" lIns="0" tIns="0" rIns="0" bIns="0" rtlCol="0" anchor="t"/>
          <a:lstStyle/>
          <a:p>
            <a:pPr marL="0" indent="0" algn="l">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Simple ANN Architecture</a:t>
            </a:r>
            <a:endParaRPr lang="en-US" sz="1950" dirty="0"/>
          </a:p>
        </p:txBody>
      </p:sp>
      <p:sp>
        <p:nvSpPr>
          <p:cNvPr id="5" name="Text 2"/>
          <p:cNvSpPr/>
          <p:nvPr/>
        </p:nvSpPr>
        <p:spPr>
          <a:xfrm>
            <a:off x="1984415" y="3118961"/>
            <a:ext cx="11852196" cy="595313"/>
          </a:xfrm>
          <a:prstGeom prst="rect">
            <a:avLst/>
          </a:prstGeom>
          <a:noFill/>
          <a:ln/>
        </p:spPr>
        <p:txBody>
          <a:bodyPr wrap="squar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Multi-Layer Perceptron with fully connected layers. Input images flattened to 1D vectors (784 pixels), processed through linear layers with ReLU activations. Treats pixels independently without spatial awareness.</a:t>
            </a:r>
            <a:endParaRPr lang="en-US" sz="1550" dirty="0"/>
          </a:p>
        </p:txBody>
      </p:sp>
      <p:pic>
        <p:nvPicPr>
          <p:cNvPr id="6" name="Image 1" descr="preencoded.png"/>
          <p:cNvPicPr>
            <a:picLocks noChangeAspect="1"/>
          </p:cNvPicPr>
          <p:nvPr/>
        </p:nvPicPr>
        <p:blipFill>
          <a:blip r:embed="rId4"/>
          <a:stretch>
            <a:fillRect/>
          </a:stretch>
        </p:blipFill>
        <p:spPr>
          <a:xfrm>
            <a:off x="793790" y="3912632"/>
            <a:ext cx="992267" cy="1421249"/>
          </a:xfrm>
          <a:prstGeom prst="rect">
            <a:avLst/>
          </a:prstGeom>
        </p:spPr>
      </p:pic>
      <p:sp>
        <p:nvSpPr>
          <p:cNvPr id="7" name="Text 3"/>
          <p:cNvSpPr/>
          <p:nvPr/>
        </p:nvSpPr>
        <p:spPr>
          <a:xfrm>
            <a:off x="1984415" y="4110990"/>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CNN Architecture</a:t>
            </a:r>
            <a:endParaRPr lang="en-US" sz="1950" dirty="0"/>
          </a:p>
        </p:txBody>
      </p:sp>
      <p:sp>
        <p:nvSpPr>
          <p:cNvPr id="8" name="Text 4"/>
          <p:cNvSpPr/>
          <p:nvPr/>
        </p:nvSpPr>
        <p:spPr>
          <a:xfrm>
            <a:off x="1984415" y="4540210"/>
            <a:ext cx="11852196" cy="595313"/>
          </a:xfrm>
          <a:prstGeom prst="rect">
            <a:avLst/>
          </a:prstGeom>
          <a:noFill/>
          <a:ln/>
        </p:spPr>
        <p:txBody>
          <a:bodyPr wrap="squar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Convolutional layers preserve 2D spatial structure. Detects edges and textures through parameter sharing. Max-pooling for subsampling, followed by flattening and fully connected classification layer.</a:t>
            </a:r>
            <a:endParaRPr lang="en-US" sz="1550" dirty="0"/>
          </a:p>
        </p:txBody>
      </p:sp>
      <p:pic>
        <p:nvPicPr>
          <p:cNvPr id="9" name="Image 2" descr="preencoded.png"/>
          <p:cNvPicPr>
            <a:picLocks noChangeAspect="1"/>
          </p:cNvPicPr>
          <p:nvPr/>
        </p:nvPicPr>
        <p:blipFill>
          <a:blip r:embed="rId5"/>
          <a:stretch>
            <a:fillRect/>
          </a:stretch>
        </p:blipFill>
        <p:spPr>
          <a:xfrm>
            <a:off x="793790" y="5333881"/>
            <a:ext cx="992267" cy="1421249"/>
          </a:xfrm>
          <a:prstGeom prst="rect">
            <a:avLst/>
          </a:prstGeom>
        </p:spPr>
      </p:pic>
      <p:sp>
        <p:nvSpPr>
          <p:cNvPr id="10" name="Text 5"/>
          <p:cNvSpPr/>
          <p:nvPr/>
        </p:nvSpPr>
        <p:spPr>
          <a:xfrm>
            <a:off x="1984415" y="5532239"/>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Enhanced Models</a:t>
            </a:r>
            <a:endParaRPr lang="en-US" sz="1950" dirty="0"/>
          </a:p>
        </p:txBody>
      </p:sp>
      <p:sp>
        <p:nvSpPr>
          <p:cNvPr id="11" name="Text 6"/>
          <p:cNvSpPr/>
          <p:nvPr/>
        </p:nvSpPr>
        <p:spPr>
          <a:xfrm>
            <a:off x="1984415" y="5961459"/>
            <a:ext cx="11852196" cy="595313"/>
          </a:xfrm>
          <a:prstGeom prst="rect">
            <a:avLst/>
          </a:prstGeom>
          <a:noFill/>
          <a:ln/>
        </p:spPr>
        <p:txBody>
          <a:bodyPr wrap="squar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MLP_BN and CNN_BN integrate Batch Normalization (BatchNorm1d and BatchNorm2d respectively). StepLR scheduler systematically reduces learning rate after set epochs for fine-tuned convergence.</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321951"/>
            <a:ext cx="4961811" cy="620078"/>
          </a:xfrm>
          <a:prstGeom prst="rect">
            <a:avLst/>
          </a:prstGeom>
          <a:noFill/>
          <a:ln/>
        </p:spPr>
        <p:txBody>
          <a:bodyPr wrap="none" lIns="0" tIns="0" rIns="0" bIns="0" rtlCol="0" anchor="t"/>
          <a:lstStyle/>
          <a:p>
            <a:pPr marL="0" indent="0" algn="l">
              <a:lnSpc>
                <a:spcPts val="4850"/>
              </a:lnSpc>
              <a:buNone/>
            </a:pPr>
            <a:r>
              <a:rPr lang="en-US" sz="3900" dirty="0">
                <a:solidFill>
                  <a:srgbClr val="2E3C4E"/>
                </a:solidFill>
                <a:latin typeface="Host Grotesk Medium" pitchFamily="34" charset="0"/>
                <a:ea typeface="Host Grotesk Medium" pitchFamily="34" charset="-122"/>
                <a:cs typeface="Host Grotesk Medium" pitchFamily="34" charset="-120"/>
              </a:rPr>
              <a:t>Results &amp; Findings</a:t>
            </a:r>
            <a:endParaRPr lang="en-US" sz="3900" dirty="0"/>
          </a:p>
        </p:txBody>
      </p:sp>
      <p:sp>
        <p:nvSpPr>
          <p:cNvPr id="3" name="Shape 1"/>
          <p:cNvSpPr/>
          <p:nvPr/>
        </p:nvSpPr>
        <p:spPr>
          <a:xfrm>
            <a:off x="793790" y="2338864"/>
            <a:ext cx="13042821" cy="2770346"/>
          </a:xfrm>
          <a:prstGeom prst="roundRect">
            <a:avLst>
              <a:gd name="adj" fmla="val 3009"/>
            </a:avLst>
          </a:prstGeom>
          <a:noFill/>
          <a:ln w="7620">
            <a:solidFill>
              <a:srgbClr val="000000">
                <a:alpha val="8000"/>
              </a:srgbClr>
            </a:solidFill>
            <a:prstDash val="solid"/>
          </a:ln>
        </p:spPr>
        <p:txBody>
          <a:bodyPr/>
          <a:lstStyle/>
          <a:p>
            <a:endParaRPr lang="en-IN"/>
          </a:p>
        </p:txBody>
      </p:sp>
      <p:sp>
        <p:nvSpPr>
          <p:cNvPr id="4" name="Shape 2"/>
          <p:cNvSpPr/>
          <p:nvPr/>
        </p:nvSpPr>
        <p:spPr>
          <a:xfrm>
            <a:off x="801410" y="2346484"/>
            <a:ext cx="13027581" cy="551021"/>
          </a:xfrm>
          <a:prstGeom prst="rect">
            <a:avLst/>
          </a:prstGeom>
          <a:solidFill>
            <a:srgbClr val="FFFFFF">
              <a:alpha val="4000"/>
            </a:srgbClr>
          </a:solidFill>
          <a:ln/>
        </p:spPr>
        <p:txBody>
          <a:bodyPr/>
          <a:lstStyle/>
          <a:p>
            <a:endParaRPr lang="en-IN"/>
          </a:p>
        </p:txBody>
      </p:sp>
      <p:sp>
        <p:nvSpPr>
          <p:cNvPr id="5" name="Text 3"/>
          <p:cNvSpPr/>
          <p:nvPr/>
        </p:nvSpPr>
        <p:spPr>
          <a:xfrm>
            <a:off x="999768" y="2473166"/>
            <a:ext cx="6113264" cy="297656"/>
          </a:xfrm>
          <a:prstGeom prst="rect">
            <a:avLst/>
          </a:prstGeom>
          <a:noFill/>
          <a:ln/>
        </p:spPr>
        <p:txBody>
          <a:bodyPr wrap="non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Model</a:t>
            </a:r>
            <a:endParaRPr lang="en-US" sz="1550" dirty="0"/>
          </a:p>
        </p:txBody>
      </p:sp>
      <p:sp>
        <p:nvSpPr>
          <p:cNvPr id="6" name="Text 4"/>
          <p:cNvSpPr/>
          <p:nvPr/>
        </p:nvSpPr>
        <p:spPr>
          <a:xfrm>
            <a:off x="7517368" y="2473166"/>
            <a:ext cx="6113264" cy="297656"/>
          </a:xfrm>
          <a:prstGeom prst="rect">
            <a:avLst/>
          </a:prstGeom>
          <a:noFill/>
          <a:ln/>
        </p:spPr>
        <p:txBody>
          <a:bodyPr wrap="non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Accuracy</a:t>
            </a:r>
            <a:endParaRPr lang="en-US" sz="1550" dirty="0"/>
          </a:p>
        </p:txBody>
      </p:sp>
      <p:sp>
        <p:nvSpPr>
          <p:cNvPr id="7" name="Shape 5"/>
          <p:cNvSpPr/>
          <p:nvPr/>
        </p:nvSpPr>
        <p:spPr>
          <a:xfrm>
            <a:off x="801410" y="2897505"/>
            <a:ext cx="13027581" cy="551021"/>
          </a:xfrm>
          <a:prstGeom prst="rect">
            <a:avLst/>
          </a:prstGeom>
          <a:solidFill>
            <a:srgbClr val="000000">
              <a:alpha val="4000"/>
            </a:srgbClr>
          </a:solidFill>
          <a:ln/>
        </p:spPr>
        <p:txBody>
          <a:bodyPr/>
          <a:lstStyle/>
          <a:p>
            <a:endParaRPr lang="en-IN"/>
          </a:p>
        </p:txBody>
      </p:sp>
      <p:sp>
        <p:nvSpPr>
          <p:cNvPr id="8" name="Text 6"/>
          <p:cNvSpPr/>
          <p:nvPr/>
        </p:nvSpPr>
        <p:spPr>
          <a:xfrm>
            <a:off x="999768" y="3024188"/>
            <a:ext cx="6113264" cy="297656"/>
          </a:xfrm>
          <a:prstGeom prst="rect">
            <a:avLst/>
          </a:prstGeom>
          <a:noFill/>
          <a:ln/>
        </p:spPr>
        <p:txBody>
          <a:bodyPr wrap="non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ANN</a:t>
            </a:r>
            <a:endParaRPr lang="en-US" sz="1550" dirty="0"/>
          </a:p>
        </p:txBody>
      </p:sp>
      <p:sp>
        <p:nvSpPr>
          <p:cNvPr id="9" name="Text 7"/>
          <p:cNvSpPr/>
          <p:nvPr/>
        </p:nvSpPr>
        <p:spPr>
          <a:xfrm>
            <a:off x="7517368" y="3024188"/>
            <a:ext cx="6113264" cy="297656"/>
          </a:xfrm>
          <a:prstGeom prst="rect">
            <a:avLst/>
          </a:prstGeom>
          <a:noFill/>
          <a:ln/>
        </p:spPr>
        <p:txBody>
          <a:bodyPr wrap="non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88.58%</a:t>
            </a:r>
            <a:endParaRPr lang="en-US" sz="1550" dirty="0"/>
          </a:p>
        </p:txBody>
      </p:sp>
      <p:sp>
        <p:nvSpPr>
          <p:cNvPr id="10" name="Shape 8"/>
          <p:cNvSpPr/>
          <p:nvPr/>
        </p:nvSpPr>
        <p:spPr>
          <a:xfrm>
            <a:off x="801410" y="3448526"/>
            <a:ext cx="13027581" cy="551021"/>
          </a:xfrm>
          <a:prstGeom prst="rect">
            <a:avLst/>
          </a:prstGeom>
          <a:solidFill>
            <a:srgbClr val="FFFFFF">
              <a:alpha val="4000"/>
            </a:srgbClr>
          </a:solidFill>
          <a:ln/>
        </p:spPr>
        <p:txBody>
          <a:bodyPr/>
          <a:lstStyle/>
          <a:p>
            <a:endParaRPr lang="en-IN"/>
          </a:p>
        </p:txBody>
      </p:sp>
      <p:sp>
        <p:nvSpPr>
          <p:cNvPr id="11" name="Text 9"/>
          <p:cNvSpPr/>
          <p:nvPr/>
        </p:nvSpPr>
        <p:spPr>
          <a:xfrm>
            <a:off x="999768" y="3575209"/>
            <a:ext cx="6113264" cy="297656"/>
          </a:xfrm>
          <a:prstGeom prst="rect">
            <a:avLst/>
          </a:prstGeom>
          <a:noFill/>
          <a:ln/>
        </p:spPr>
        <p:txBody>
          <a:bodyPr wrap="non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CNN</a:t>
            </a:r>
            <a:endParaRPr lang="en-US" sz="1550" dirty="0"/>
          </a:p>
        </p:txBody>
      </p:sp>
      <p:sp>
        <p:nvSpPr>
          <p:cNvPr id="12" name="Text 10"/>
          <p:cNvSpPr/>
          <p:nvPr/>
        </p:nvSpPr>
        <p:spPr>
          <a:xfrm>
            <a:off x="7517368" y="3575209"/>
            <a:ext cx="6113264" cy="297656"/>
          </a:xfrm>
          <a:prstGeom prst="rect">
            <a:avLst/>
          </a:prstGeom>
          <a:noFill/>
          <a:ln/>
        </p:spPr>
        <p:txBody>
          <a:bodyPr wrap="non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90.34%</a:t>
            </a:r>
            <a:endParaRPr lang="en-US" sz="1550" dirty="0"/>
          </a:p>
        </p:txBody>
      </p:sp>
      <p:sp>
        <p:nvSpPr>
          <p:cNvPr id="13" name="Shape 11"/>
          <p:cNvSpPr/>
          <p:nvPr/>
        </p:nvSpPr>
        <p:spPr>
          <a:xfrm>
            <a:off x="801410" y="3999548"/>
            <a:ext cx="13027581" cy="551021"/>
          </a:xfrm>
          <a:prstGeom prst="rect">
            <a:avLst/>
          </a:prstGeom>
          <a:solidFill>
            <a:srgbClr val="000000">
              <a:alpha val="4000"/>
            </a:srgbClr>
          </a:solidFill>
          <a:ln/>
        </p:spPr>
        <p:txBody>
          <a:bodyPr/>
          <a:lstStyle/>
          <a:p>
            <a:endParaRPr lang="en-IN"/>
          </a:p>
        </p:txBody>
      </p:sp>
      <p:sp>
        <p:nvSpPr>
          <p:cNvPr id="14" name="Text 12"/>
          <p:cNvSpPr/>
          <p:nvPr/>
        </p:nvSpPr>
        <p:spPr>
          <a:xfrm>
            <a:off x="999768" y="4126230"/>
            <a:ext cx="6113264" cy="297656"/>
          </a:xfrm>
          <a:prstGeom prst="rect">
            <a:avLst/>
          </a:prstGeom>
          <a:noFill/>
          <a:ln/>
        </p:spPr>
        <p:txBody>
          <a:bodyPr wrap="non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MLP_BN</a:t>
            </a:r>
            <a:endParaRPr lang="en-US" sz="1550" dirty="0"/>
          </a:p>
        </p:txBody>
      </p:sp>
      <p:sp>
        <p:nvSpPr>
          <p:cNvPr id="15" name="Text 13"/>
          <p:cNvSpPr/>
          <p:nvPr/>
        </p:nvSpPr>
        <p:spPr>
          <a:xfrm>
            <a:off x="7517368" y="4126230"/>
            <a:ext cx="6113264" cy="297656"/>
          </a:xfrm>
          <a:prstGeom prst="rect">
            <a:avLst/>
          </a:prstGeom>
          <a:noFill/>
          <a:ln/>
        </p:spPr>
        <p:txBody>
          <a:bodyPr wrap="non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89.27%</a:t>
            </a:r>
            <a:endParaRPr lang="en-US" sz="1550" dirty="0"/>
          </a:p>
        </p:txBody>
      </p:sp>
      <p:sp>
        <p:nvSpPr>
          <p:cNvPr id="16" name="Shape 14"/>
          <p:cNvSpPr/>
          <p:nvPr/>
        </p:nvSpPr>
        <p:spPr>
          <a:xfrm>
            <a:off x="801410" y="4550569"/>
            <a:ext cx="13027581" cy="551021"/>
          </a:xfrm>
          <a:prstGeom prst="rect">
            <a:avLst/>
          </a:prstGeom>
          <a:solidFill>
            <a:srgbClr val="FFFFFF">
              <a:alpha val="4000"/>
            </a:srgbClr>
          </a:solidFill>
          <a:ln/>
        </p:spPr>
        <p:txBody>
          <a:bodyPr/>
          <a:lstStyle/>
          <a:p>
            <a:endParaRPr lang="en-IN"/>
          </a:p>
        </p:txBody>
      </p:sp>
      <p:sp>
        <p:nvSpPr>
          <p:cNvPr id="17" name="Text 15"/>
          <p:cNvSpPr/>
          <p:nvPr/>
        </p:nvSpPr>
        <p:spPr>
          <a:xfrm>
            <a:off x="999768" y="4677251"/>
            <a:ext cx="6113264" cy="297656"/>
          </a:xfrm>
          <a:prstGeom prst="rect">
            <a:avLst/>
          </a:prstGeom>
          <a:noFill/>
          <a:ln/>
        </p:spPr>
        <p:txBody>
          <a:bodyPr wrap="non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CNN_BN</a:t>
            </a:r>
            <a:endParaRPr lang="en-US" sz="1550" dirty="0"/>
          </a:p>
        </p:txBody>
      </p:sp>
      <p:sp>
        <p:nvSpPr>
          <p:cNvPr id="18" name="Text 16"/>
          <p:cNvSpPr/>
          <p:nvPr/>
        </p:nvSpPr>
        <p:spPr>
          <a:xfrm>
            <a:off x="7517368" y="4677251"/>
            <a:ext cx="6113264" cy="297656"/>
          </a:xfrm>
          <a:prstGeom prst="rect">
            <a:avLst/>
          </a:prstGeom>
          <a:noFill/>
          <a:ln/>
        </p:spPr>
        <p:txBody>
          <a:bodyPr wrap="non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92.15%</a:t>
            </a:r>
            <a:endParaRPr lang="en-US" sz="1550" dirty="0"/>
          </a:p>
        </p:txBody>
      </p:sp>
      <p:sp>
        <p:nvSpPr>
          <p:cNvPr id="19" name="Text 17"/>
          <p:cNvSpPr/>
          <p:nvPr/>
        </p:nvSpPr>
        <p:spPr>
          <a:xfrm>
            <a:off x="793790" y="5406866"/>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2E3C4E"/>
                </a:solidFill>
                <a:latin typeface="Host Grotesk Medium" pitchFamily="34" charset="0"/>
                <a:ea typeface="Host Grotesk Medium" pitchFamily="34" charset="-122"/>
                <a:cs typeface="Host Grotesk Medium" pitchFamily="34" charset="-120"/>
              </a:rPr>
              <a:t>Key Observations</a:t>
            </a:r>
            <a:endParaRPr lang="en-US" sz="1950" dirty="0"/>
          </a:p>
        </p:txBody>
      </p:sp>
      <p:sp>
        <p:nvSpPr>
          <p:cNvPr id="20" name="Text 18"/>
          <p:cNvSpPr/>
          <p:nvPr/>
        </p:nvSpPr>
        <p:spPr>
          <a:xfrm>
            <a:off x="793790" y="6014680"/>
            <a:ext cx="13042821" cy="892969"/>
          </a:xfrm>
          <a:prstGeom prst="rect">
            <a:avLst/>
          </a:prstGeom>
          <a:noFill/>
          <a:ln/>
        </p:spPr>
        <p:txBody>
          <a:bodyPr wrap="squar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CNN architecture demonstrated clear superiority over ANN, with a 1.76% improvement in baseline models. The addition of Batch Normalization and learning rate scheduling boosted performance across both architectures, with the enhanced CNN reaching an impressive 92.15% test accuracy—a 1.81% improvement over the simple CNN.</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520309"/>
            <a:ext cx="6077664" cy="620078"/>
          </a:xfrm>
          <a:prstGeom prst="rect">
            <a:avLst/>
          </a:prstGeom>
          <a:noFill/>
          <a:ln/>
        </p:spPr>
        <p:txBody>
          <a:bodyPr wrap="none" lIns="0" tIns="0" rIns="0" bIns="0" rtlCol="0" anchor="t"/>
          <a:lstStyle/>
          <a:p>
            <a:pPr marL="0" indent="0" algn="l">
              <a:lnSpc>
                <a:spcPts val="4850"/>
              </a:lnSpc>
              <a:buNone/>
            </a:pPr>
            <a:r>
              <a:rPr lang="en-US" sz="3900" dirty="0">
                <a:solidFill>
                  <a:srgbClr val="2E3C4E"/>
                </a:solidFill>
                <a:latin typeface="Host Grotesk Medium" pitchFamily="34" charset="0"/>
                <a:ea typeface="Host Grotesk Medium" pitchFamily="34" charset="-122"/>
                <a:cs typeface="Host Grotesk Medium" pitchFamily="34" charset="-120"/>
              </a:rPr>
              <a:t>Discussion &amp; Interpretation</a:t>
            </a:r>
            <a:endParaRPr lang="en-US" sz="3900" dirty="0"/>
          </a:p>
        </p:txBody>
      </p:sp>
      <p:sp>
        <p:nvSpPr>
          <p:cNvPr id="3" name="Text 1"/>
          <p:cNvSpPr/>
          <p:nvPr/>
        </p:nvSpPr>
        <p:spPr>
          <a:xfrm>
            <a:off x="793790" y="2636401"/>
            <a:ext cx="3347204" cy="310158"/>
          </a:xfrm>
          <a:prstGeom prst="rect">
            <a:avLst/>
          </a:prstGeom>
          <a:noFill/>
          <a:ln/>
        </p:spPr>
        <p:txBody>
          <a:bodyPr wrap="none" lIns="0" tIns="0" rIns="0" bIns="0" rtlCol="0" anchor="t"/>
          <a:lstStyle/>
          <a:p>
            <a:pPr marL="0" indent="0" algn="l">
              <a:lnSpc>
                <a:spcPts val="2400"/>
              </a:lnSpc>
              <a:buNone/>
            </a:pPr>
            <a:r>
              <a:rPr lang="en-US" sz="1950" dirty="0">
                <a:solidFill>
                  <a:srgbClr val="2E3C4E"/>
                </a:solidFill>
                <a:latin typeface="Host Grotesk Medium" pitchFamily="34" charset="0"/>
                <a:ea typeface="Host Grotesk Medium" pitchFamily="34" charset="-122"/>
                <a:cs typeface="Host Grotesk Medium" pitchFamily="34" charset="-120"/>
              </a:rPr>
              <a:t>Why CNNs Outperform ANNs</a:t>
            </a:r>
            <a:endParaRPr lang="en-US" sz="1950" dirty="0"/>
          </a:p>
        </p:txBody>
      </p:sp>
      <p:sp>
        <p:nvSpPr>
          <p:cNvPr id="4" name="Text 2"/>
          <p:cNvSpPr/>
          <p:nvPr/>
        </p:nvSpPr>
        <p:spPr>
          <a:xfrm>
            <a:off x="793790" y="3144917"/>
            <a:ext cx="6279356" cy="1488281"/>
          </a:xfrm>
          <a:prstGeom prst="rect">
            <a:avLst/>
          </a:prstGeom>
          <a:noFill/>
          <a:ln/>
        </p:spPr>
        <p:txBody>
          <a:bodyPr wrap="squar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Convolutional Neural Networks naturally preserve spatial relationships in image data through parameter sharing and hierarchical feature extraction. Unlike ANNs that flatten images into 1D vectors, CNNs maintain the 2D structure, enabling detection of edges, textures, and complex patterns crucial for visual classification.</a:t>
            </a:r>
            <a:endParaRPr lang="en-US" sz="1550" dirty="0"/>
          </a:p>
        </p:txBody>
      </p:sp>
      <p:sp>
        <p:nvSpPr>
          <p:cNvPr id="5" name="Text 3"/>
          <p:cNvSpPr/>
          <p:nvPr/>
        </p:nvSpPr>
        <p:spPr>
          <a:xfrm>
            <a:off x="793790" y="4831556"/>
            <a:ext cx="3643789" cy="310158"/>
          </a:xfrm>
          <a:prstGeom prst="rect">
            <a:avLst/>
          </a:prstGeom>
          <a:noFill/>
          <a:ln/>
        </p:spPr>
        <p:txBody>
          <a:bodyPr wrap="none" lIns="0" tIns="0" rIns="0" bIns="0" rtlCol="0" anchor="t"/>
          <a:lstStyle/>
          <a:p>
            <a:pPr marL="0" indent="0" algn="l">
              <a:lnSpc>
                <a:spcPts val="2400"/>
              </a:lnSpc>
              <a:buNone/>
            </a:pPr>
            <a:r>
              <a:rPr lang="en-US" sz="1950" dirty="0">
                <a:solidFill>
                  <a:srgbClr val="2E3C4E"/>
                </a:solidFill>
                <a:latin typeface="Host Grotesk Medium" pitchFamily="34" charset="0"/>
                <a:ea typeface="Host Grotesk Medium" pitchFamily="34" charset="-122"/>
                <a:cs typeface="Host Grotesk Medium" pitchFamily="34" charset="-120"/>
              </a:rPr>
              <a:t>Impact of Advanced Techniques</a:t>
            </a:r>
            <a:endParaRPr lang="en-US" sz="1950" dirty="0"/>
          </a:p>
        </p:txBody>
      </p:sp>
      <p:sp>
        <p:nvSpPr>
          <p:cNvPr id="6" name="Text 4"/>
          <p:cNvSpPr/>
          <p:nvPr/>
        </p:nvSpPr>
        <p:spPr>
          <a:xfrm>
            <a:off x="793790" y="5340072"/>
            <a:ext cx="6279356" cy="1190625"/>
          </a:xfrm>
          <a:prstGeom prst="rect">
            <a:avLst/>
          </a:prstGeom>
          <a:noFill/>
          <a:ln/>
        </p:spPr>
        <p:txBody>
          <a:bodyPr wrap="squar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Batch Normalization stabilized training by reducing internal covariate shift, while the StepLR scheduler enabled fine-tuned weight adjustments near convergence. Together, these techniques improved both model architectures significantly.</a:t>
            </a:r>
            <a:endParaRPr lang="en-US" sz="1550" dirty="0"/>
          </a:p>
        </p:txBody>
      </p:sp>
      <p:sp>
        <p:nvSpPr>
          <p:cNvPr id="7" name="Text 5"/>
          <p:cNvSpPr/>
          <p:nvPr/>
        </p:nvSpPr>
        <p:spPr>
          <a:xfrm>
            <a:off x="7564874" y="2636401"/>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2E3C4E"/>
                </a:solidFill>
                <a:latin typeface="Host Grotesk Medium" pitchFamily="34" charset="0"/>
                <a:ea typeface="Host Grotesk Medium" pitchFamily="34" charset="-122"/>
                <a:cs typeface="Host Grotesk Medium" pitchFamily="34" charset="-120"/>
              </a:rPr>
              <a:t>Persistent Challenges</a:t>
            </a:r>
            <a:endParaRPr lang="en-US" sz="1950" dirty="0"/>
          </a:p>
        </p:txBody>
      </p:sp>
      <p:sp>
        <p:nvSpPr>
          <p:cNvPr id="8" name="Text 6"/>
          <p:cNvSpPr/>
          <p:nvPr/>
        </p:nvSpPr>
        <p:spPr>
          <a:xfrm>
            <a:off x="7564874" y="3144917"/>
            <a:ext cx="6279356" cy="1190625"/>
          </a:xfrm>
          <a:prstGeom prst="rect">
            <a:avLst/>
          </a:prstGeom>
          <a:noFill/>
          <a:ln/>
        </p:spPr>
        <p:txBody>
          <a:bodyPr wrap="squar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Confusion matrices revealed ongoing difficulties distinguishing visually similar categories like 'Shirt,' 'Coat,' and 'Pullover.' This highlights the inherent challenge of fine-grained classification even with sophisticated architectures.</a:t>
            </a:r>
            <a:endParaRPr lang="en-US" sz="1550" dirty="0"/>
          </a:p>
        </p:txBody>
      </p:sp>
      <p:sp>
        <p:nvSpPr>
          <p:cNvPr id="9" name="Shape 7"/>
          <p:cNvSpPr/>
          <p:nvPr/>
        </p:nvSpPr>
        <p:spPr>
          <a:xfrm>
            <a:off x="7564874" y="4558784"/>
            <a:ext cx="6279356" cy="1716286"/>
          </a:xfrm>
          <a:prstGeom prst="roundRect">
            <a:avLst>
              <a:gd name="adj" fmla="val 4857"/>
            </a:avLst>
          </a:prstGeom>
          <a:solidFill>
            <a:srgbClr val="C6E4EB"/>
          </a:solidFill>
          <a:ln/>
        </p:spPr>
        <p:txBody>
          <a:bodyPr/>
          <a:lstStyle/>
          <a:p>
            <a:endParaRPr lang="en-IN"/>
          </a:p>
        </p:txBody>
      </p:sp>
      <p:pic>
        <p:nvPicPr>
          <p:cNvPr id="10" name="Image 0" descr="preencoded.png"/>
          <p:cNvPicPr>
            <a:picLocks noChangeAspect="1"/>
          </p:cNvPicPr>
          <p:nvPr/>
        </p:nvPicPr>
        <p:blipFill>
          <a:blip r:embed="rId3"/>
          <a:stretch>
            <a:fillRect/>
          </a:stretch>
        </p:blipFill>
        <p:spPr>
          <a:xfrm>
            <a:off x="7763232" y="4846439"/>
            <a:ext cx="248007" cy="198358"/>
          </a:xfrm>
          <a:prstGeom prst="rect">
            <a:avLst/>
          </a:prstGeom>
        </p:spPr>
      </p:pic>
      <p:sp>
        <p:nvSpPr>
          <p:cNvPr id="11" name="Text 8"/>
          <p:cNvSpPr/>
          <p:nvPr/>
        </p:nvSpPr>
        <p:spPr>
          <a:xfrm>
            <a:off x="8209598" y="4806672"/>
            <a:ext cx="5436275" cy="1190625"/>
          </a:xfrm>
          <a:prstGeom prst="rect">
            <a:avLst/>
          </a:prstGeom>
          <a:noFill/>
          <a:ln/>
        </p:spPr>
        <p:txBody>
          <a:bodyPr wrap="square" lIns="0" tIns="0" rIns="0" bIns="0" rtlCol="0" anchor="t"/>
          <a:lstStyle/>
          <a:p>
            <a:pPr marL="0" indent="0" algn="l">
              <a:lnSpc>
                <a:spcPts val="2300"/>
              </a:lnSpc>
              <a:buNone/>
            </a:pPr>
            <a:r>
              <a:rPr lang="en-US" sz="1550" b="1" dirty="0">
                <a:solidFill>
                  <a:srgbClr val="000000"/>
                </a:solidFill>
                <a:latin typeface="Roboto" pitchFamily="34" charset="0"/>
                <a:ea typeface="Roboto" pitchFamily="34" charset="-122"/>
                <a:cs typeface="Roboto" pitchFamily="34" charset="-120"/>
              </a:rPr>
              <a:t>Key Insight:</a:t>
            </a:r>
            <a:r>
              <a:rPr lang="en-US" sz="1550" dirty="0">
                <a:solidFill>
                  <a:srgbClr val="000000"/>
                </a:solidFill>
                <a:latin typeface="Roboto" pitchFamily="34" charset="0"/>
                <a:ea typeface="Roboto" pitchFamily="34" charset="-122"/>
                <a:cs typeface="Roboto" pitchFamily="34" charset="-120"/>
              </a:rPr>
              <a:t> While architectural improvements and training techniques boost overall accuracy, certain classification boundaries remain challenging due to subtle visual differences between fashion categories.</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564362"/>
            <a:ext cx="5334000" cy="620078"/>
          </a:xfrm>
          <a:prstGeom prst="rect">
            <a:avLst/>
          </a:prstGeom>
          <a:noFill/>
          <a:ln/>
        </p:spPr>
        <p:txBody>
          <a:bodyPr wrap="none" lIns="0" tIns="0" rIns="0" bIns="0" rtlCol="0" anchor="t"/>
          <a:lstStyle/>
          <a:p>
            <a:pPr marL="0" indent="0" algn="l">
              <a:lnSpc>
                <a:spcPts val="4850"/>
              </a:lnSpc>
              <a:buNone/>
            </a:pPr>
            <a:r>
              <a:rPr lang="en-US" sz="3900" dirty="0">
                <a:solidFill>
                  <a:srgbClr val="2E3C4E"/>
                </a:solidFill>
                <a:latin typeface="Host Grotesk Medium" pitchFamily="34" charset="0"/>
                <a:ea typeface="Host Grotesk Medium" pitchFamily="34" charset="-122"/>
                <a:cs typeface="Host Grotesk Medium" pitchFamily="34" charset="-120"/>
              </a:rPr>
              <a:t>Conclusion &amp; Summary</a:t>
            </a:r>
            <a:endParaRPr lang="en-US" sz="3900" dirty="0"/>
          </a:p>
        </p:txBody>
      </p:sp>
      <p:sp>
        <p:nvSpPr>
          <p:cNvPr id="3" name="Shape 1"/>
          <p:cNvSpPr/>
          <p:nvPr/>
        </p:nvSpPr>
        <p:spPr>
          <a:xfrm>
            <a:off x="793790" y="2581275"/>
            <a:ext cx="4215289" cy="3265408"/>
          </a:xfrm>
          <a:prstGeom prst="roundRect">
            <a:avLst>
              <a:gd name="adj" fmla="val 3360"/>
            </a:avLst>
          </a:prstGeom>
          <a:solidFill>
            <a:srgbClr val="FAF9F5"/>
          </a:solidFill>
          <a:ln w="22860">
            <a:solidFill>
              <a:srgbClr val="BFD3D8"/>
            </a:solidFill>
            <a:prstDash val="solid"/>
          </a:ln>
        </p:spPr>
        <p:txBody>
          <a:bodyPr/>
          <a:lstStyle/>
          <a:p>
            <a:endParaRPr lang="en-IN"/>
          </a:p>
        </p:txBody>
      </p:sp>
      <p:pic>
        <p:nvPicPr>
          <p:cNvPr id="4" name="Image 0" descr="preencoded.png"/>
          <p:cNvPicPr>
            <a:picLocks noChangeAspect="1"/>
          </p:cNvPicPr>
          <p:nvPr/>
        </p:nvPicPr>
        <p:blipFill>
          <a:blip r:embed="rId3"/>
          <a:stretch>
            <a:fillRect/>
          </a:stretch>
        </p:blipFill>
        <p:spPr>
          <a:xfrm>
            <a:off x="770930" y="2581275"/>
            <a:ext cx="91440" cy="3265408"/>
          </a:xfrm>
          <a:prstGeom prst="rect">
            <a:avLst/>
          </a:prstGeom>
        </p:spPr>
      </p:pic>
      <p:sp>
        <p:nvSpPr>
          <p:cNvPr id="5" name="Text 2"/>
          <p:cNvSpPr/>
          <p:nvPr/>
        </p:nvSpPr>
        <p:spPr>
          <a:xfrm>
            <a:off x="1083588" y="2802493"/>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Architecture Matters</a:t>
            </a:r>
            <a:endParaRPr lang="en-US" sz="1950" dirty="0"/>
          </a:p>
        </p:txBody>
      </p:sp>
      <p:sp>
        <p:nvSpPr>
          <p:cNvPr id="6" name="Text 3"/>
          <p:cNvSpPr/>
          <p:nvPr/>
        </p:nvSpPr>
        <p:spPr>
          <a:xfrm>
            <a:off x="1083588" y="3231713"/>
            <a:ext cx="3704273" cy="1785938"/>
          </a:xfrm>
          <a:prstGeom prst="rect">
            <a:avLst/>
          </a:prstGeom>
          <a:noFill/>
          <a:ln/>
        </p:spPr>
        <p:txBody>
          <a:bodyPr wrap="squar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CNNs significantly outperform ANNs for image classification tasks by preserving spatial information and extracting hierarchical features. The 3.57% accuracy gain from simple ANN to enhanced CNN validates architectural choice importance.</a:t>
            </a:r>
            <a:endParaRPr lang="en-US" sz="1550" dirty="0"/>
          </a:p>
        </p:txBody>
      </p:sp>
      <p:sp>
        <p:nvSpPr>
          <p:cNvPr id="7" name="Shape 4"/>
          <p:cNvSpPr/>
          <p:nvPr/>
        </p:nvSpPr>
        <p:spPr>
          <a:xfrm>
            <a:off x="5207437" y="2581275"/>
            <a:ext cx="4215408" cy="3265408"/>
          </a:xfrm>
          <a:prstGeom prst="roundRect">
            <a:avLst>
              <a:gd name="adj" fmla="val 3360"/>
            </a:avLst>
          </a:prstGeom>
          <a:solidFill>
            <a:srgbClr val="FAF9F5"/>
          </a:solidFill>
          <a:ln w="22860">
            <a:solidFill>
              <a:srgbClr val="BFD3D8"/>
            </a:solidFill>
            <a:prstDash val="solid"/>
          </a:ln>
        </p:spPr>
        <p:txBody>
          <a:bodyPr/>
          <a:lstStyle/>
          <a:p>
            <a:endParaRPr lang="en-IN"/>
          </a:p>
        </p:txBody>
      </p:sp>
      <p:pic>
        <p:nvPicPr>
          <p:cNvPr id="8" name="Image 1" descr="preencoded.png"/>
          <p:cNvPicPr>
            <a:picLocks noChangeAspect="1"/>
          </p:cNvPicPr>
          <p:nvPr/>
        </p:nvPicPr>
        <p:blipFill>
          <a:blip r:embed="rId3"/>
          <a:stretch>
            <a:fillRect/>
          </a:stretch>
        </p:blipFill>
        <p:spPr>
          <a:xfrm>
            <a:off x="5184577" y="2581275"/>
            <a:ext cx="91440" cy="3265408"/>
          </a:xfrm>
          <a:prstGeom prst="rect">
            <a:avLst/>
          </a:prstGeom>
        </p:spPr>
      </p:pic>
      <p:sp>
        <p:nvSpPr>
          <p:cNvPr id="9" name="Text 5"/>
          <p:cNvSpPr/>
          <p:nvPr/>
        </p:nvSpPr>
        <p:spPr>
          <a:xfrm>
            <a:off x="5497235" y="2802493"/>
            <a:ext cx="3454479" cy="310158"/>
          </a:xfrm>
          <a:prstGeom prst="rect">
            <a:avLst/>
          </a:prstGeom>
          <a:noFill/>
          <a:ln/>
        </p:spPr>
        <p:txBody>
          <a:bodyPr wrap="none" lIns="0" tIns="0" rIns="0" bIns="0" rtlCol="0" anchor="t"/>
          <a:lstStyle/>
          <a:p>
            <a:pPr marL="0" indent="0" algn="l">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Training Techniques Add Value</a:t>
            </a:r>
            <a:endParaRPr lang="en-US" sz="1950" dirty="0"/>
          </a:p>
        </p:txBody>
      </p:sp>
      <p:sp>
        <p:nvSpPr>
          <p:cNvPr id="10" name="Text 6"/>
          <p:cNvSpPr/>
          <p:nvPr/>
        </p:nvSpPr>
        <p:spPr>
          <a:xfrm>
            <a:off x="5497235" y="3231713"/>
            <a:ext cx="3704392" cy="2083594"/>
          </a:xfrm>
          <a:prstGeom prst="rect">
            <a:avLst/>
          </a:prstGeom>
          <a:noFill/>
          <a:ln/>
        </p:spPr>
        <p:txBody>
          <a:bodyPr wrap="squar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Batch Normalization and learning rate scheduling consistently improved performance across both architectures. These techniques stabilize training and enable better convergence, demonstrating their value in the model development pipeline.</a:t>
            </a:r>
            <a:endParaRPr lang="en-US" sz="1550" dirty="0"/>
          </a:p>
        </p:txBody>
      </p:sp>
      <p:sp>
        <p:nvSpPr>
          <p:cNvPr id="11" name="Shape 7"/>
          <p:cNvSpPr/>
          <p:nvPr/>
        </p:nvSpPr>
        <p:spPr>
          <a:xfrm>
            <a:off x="9621203" y="2581275"/>
            <a:ext cx="4215289" cy="3265408"/>
          </a:xfrm>
          <a:prstGeom prst="roundRect">
            <a:avLst>
              <a:gd name="adj" fmla="val 3360"/>
            </a:avLst>
          </a:prstGeom>
          <a:solidFill>
            <a:srgbClr val="FAF9F5"/>
          </a:solidFill>
          <a:ln w="22860">
            <a:solidFill>
              <a:srgbClr val="BFD3D8"/>
            </a:solidFill>
            <a:prstDash val="solid"/>
          </a:ln>
        </p:spPr>
        <p:txBody>
          <a:bodyPr/>
          <a:lstStyle/>
          <a:p>
            <a:endParaRPr lang="en-IN"/>
          </a:p>
        </p:txBody>
      </p:sp>
      <p:pic>
        <p:nvPicPr>
          <p:cNvPr id="12" name="Image 2" descr="preencoded.png"/>
          <p:cNvPicPr>
            <a:picLocks noChangeAspect="1"/>
          </p:cNvPicPr>
          <p:nvPr/>
        </p:nvPicPr>
        <p:blipFill>
          <a:blip r:embed="rId3"/>
          <a:stretch>
            <a:fillRect/>
          </a:stretch>
        </p:blipFill>
        <p:spPr>
          <a:xfrm>
            <a:off x="9598343" y="2581275"/>
            <a:ext cx="91440" cy="3265408"/>
          </a:xfrm>
          <a:prstGeom prst="rect">
            <a:avLst/>
          </a:prstGeom>
        </p:spPr>
      </p:pic>
      <p:sp>
        <p:nvSpPr>
          <p:cNvPr id="13" name="Text 8"/>
          <p:cNvSpPr/>
          <p:nvPr/>
        </p:nvSpPr>
        <p:spPr>
          <a:xfrm>
            <a:off x="9911001" y="2802493"/>
            <a:ext cx="3704273" cy="620316"/>
          </a:xfrm>
          <a:prstGeom prst="rect">
            <a:avLst/>
          </a:prstGeom>
          <a:noFill/>
          <a:ln/>
        </p:spPr>
        <p:txBody>
          <a:bodyPr wrap="square" lIns="0" tIns="0" rIns="0" bIns="0" rtlCol="0" anchor="t"/>
          <a:lstStyle/>
          <a:p>
            <a:pPr marL="0" indent="0" algn="l">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Fine-Grained Classification Remains Hard</a:t>
            </a:r>
            <a:endParaRPr lang="en-US" sz="1950" dirty="0"/>
          </a:p>
        </p:txBody>
      </p:sp>
      <p:sp>
        <p:nvSpPr>
          <p:cNvPr id="14" name="Text 9"/>
          <p:cNvSpPr/>
          <p:nvPr/>
        </p:nvSpPr>
        <p:spPr>
          <a:xfrm>
            <a:off x="9911001" y="3541871"/>
            <a:ext cx="3704273" cy="2083594"/>
          </a:xfrm>
          <a:prstGeom prst="rect">
            <a:avLst/>
          </a:prstGeom>
          <a:noFill/>
          <a:ln/>
        </p:spPr>
        <p:txBody>
          <a:bodyPr wrap="squar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Despite achieving 92.15% accuracy, confusion between similar fashion categories persists. This experiment highlights both the progress made in neural network design and the ongoing challenges in distinguishing subtle visual differences.</a:t>
            </a:r>
            <a:endParaRPr lang="en-US" sz="1550" dirty="0"/>
          </a:p>
        </p:txBody>
      </p:sp>
      <p:sp>
        <p:nvSpPr>
          <p:cNvPr id="15" name="Text 10"/>
          <p:cNvSpPr/>
          <p:nvPr/>
        </p:nvSpPr>
        <p:spPr>
          <a:xfrm>
            <a:off x="793790" y="6069925"/>
            <a:ext cx="13042821" cy="595313"/>
          </a:xfrm>
          <a:prstGeom prst="rect">
            <a:avLst/>
          </a:prstGeom>
          <a:noFill/>
          <a:ln/>
        </p:spPr>
        <p:txBody>
          <a:bodyPr wrap="squar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This experiment successfully demonstrated the efficacy of CNNs for image classification while validating the importance of modern training techniques in building robust neural network models.</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1640681"/>
            <a:ext cx="7618690" cy="620078"/>
          </a:xfrm>
          <a:prstGeom prst="rect">
            <a:avLst/>
          </a:prstGeom>
          <a:noFill/>
          <a:ln/>
        </p:spPr>
        <p:txBody>
          <a:bodyPr wrap="none" lIns="0" tIns="0" rIns="0" bIns="0" rtlCol="0" anchor="t"/>
          <a:lstStyle/>
          <a:p>
            <a:pPr marL="0" indent="0" algn="l">
              <a:lnSpc>
                <a:spcPts val="4850"/>
              </a:lnSpc>
              <a:buNone/>
            </a:pPr>
            <a:r>
              <a:rPr lang="en-US" sz="3900" dirty="0">
                <a:solidFill>
                  <a:srgbClr val="2E3C4E"/>
                </a:solidFill>
                <a:latin typeface="Host Grotesk Medium" pitchFamily="34" charset="0"/>
                <a:ea typeface="Host Grotesk Medium" pitchFamily="34" charset="-122"/>
                <a:cs typeface="Host Grotesk Medium" pitchFamily="34" charset="-120"/>
              </a:rPr>
              <a:t>Future Work &amp; Acknowledgments</a:t>
            </a:r>
            <a:endParaRPr lang="en-US" sz="3900" dirty="0"/>
          </a:p>
        </p:txBody>
      </p:sp>
      <p:sp>
        <p:nvSpPr>
          <p:cNvPr id="3" name="Text 1"/>
          <p:cNvSpPr/>
          <p:nvPr/>
        </p:nvSpPr>
        <p:spPr>
          <a:xfrm>
            <a:off x="793790" y="2756773"/>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2E3C4E"/>
                </a:solidFill>
                <a:latin typeface="Host Grotesk Medium" pitchFamily="34" charset="0"/>
                <a:ea typeface="Host Grotesk Medium" pitchFamily="34" charset="-122"/>
                <a:cs typeface="Host Grotesk Medium" pitchFamily="34" charset="-120"/>
              </a:rPr>
              <a:t>Future Directions</a:t>
            </a:r>
            <a:endParaRPr lang="en-US" sz="1950" dirty="0"/>
          </a:p>
        </p:txBody>
      </p:sp>
      <p:sp>
        <p:nvSpPr>
          <p:cNvPr id="4" name="Text 2"/>
          <p:cNvSpPr/>
          <p:nvPr/>
        </p:nvSpPr>
        <p:spPr>
          <a:xfrm>
            <a:off x="793790" y="3265289"/>
            <a:ext cx="6279356" cy="595313"/>
          </a:xfrm>
          <a:prstGeom prst="rect">
            <a:avLst/>
          </a:prstGeom>
          <a:noFill/>
          <a:ln/>
        </p:spPr>
        <p:txBody>
          <a:bodyPr wrap="square" lIns="0" tIns="0" rIns="0" bIns="0" rtlCol="0" anchor="t"/>
          <a:lstStyle/>
          <a:p>
            <a:pPr marL="342900" indent="-342900" algn="l">
              <a:lnSpc>
                <a:spcPts val="2300"/>
              </a:lnSpc>
              <a:buSzPct val="100000"/>
              <a:buChar char="•"/>
            </a:pPr>
            <a:r>
              <a:rPr lang="en-US" sz="1550" dirty="0">
                <a:solidFill>
                  <a:srgbClr val="384653"/>
                </a:solidFill>
                <a:latin typeface="Roboto" pitchFamily="34" charset="0"/>
                <a:ea typeface="Roboto" pitchFamily="34" charset="-122"/>
                <a:cs typeface="Roboto" pitchFamily="34" charset="-120"/>
              </a:rPr>
              <a:t>Explore deeper CNN architectures like ResNet or EfficientNet for potential accuracy improvements</a:t>
            </a:r>
            <a:endParaRPr lang="en-US" sz="1550" dirty="0"/>
          </a:p>
        </p:txBody>
      </p:sp>
      <p:sp>
        <p:nvSpPr>
          <p:cNvPr id="5" name="Text 3"/>
          <p:cNvSpPr/>
          <p:nvPr/>
        </p:nvSpPr>
        <p:spPr>
          <a:xfrm>
            <a:off x="793790" y="3930015"/>
            <a:ext cx="6279356" cy="595313"/>
          </a:xfrm>
          <a:prstGeom prst="rect">
            <a:avLst/>
          </a:prstGeom>
          <a:noFill/>
          <a:ln/>
        </p:spPr>
        <p:txBody>
          <a:bodyPr wrap="square" lIns="0" tIns="0" rIns="0" bIns="0" rtlCol="0" anchor="t"/>
          <a:lstStyle/>
          <a:p>
            <a:pPr marL="342900" indent="-342900" algn="l">
              <a:lnSpc>
                <a:spcPts val="2300"/>
              </a:lnSpc>
              <a:buSzPct val="100000"/>
              <a:buChar char="•"/>
            </a:pPr>
            <a:r>
              <a:rPr lang="en-US" sz="1550" dirty="0">
                <a:solidFill>
                  <a:srgbClr val="384653"/>
                </a:solidFill>
                <a:latin typeface="Roboto" pitchFamily="34" charset="0"/>
                <a:ea typeface="Roboto" pitchFamily="34" charset="-122"/>
                <a:cs typeface="Roboto" pitchFamily="34" charset="-120"/>
              </a:rPr>
              <a:t>Implement data augmentation techniques to improve model generalization</a:t>
            </a:r>
            <a:endParaRPr lang="en-US" sz="1550" dirty="0"/>
          </a:p>
        </p:txBody>
      </p:sp>
      <p:sp>
        <p:nvSpPr>
          <p:cNvPr id="6" name="Text 4"/>
          <p:cNvSpPr/>
          <p:nvPr/>
        </p:nvSpPr>
        <p:spPr>
          <a:xfrm>
            <a:off x="793790" y="4594741"/>
            <a:ext cx="6279356" cy="595313"/>
          </a:xfrm>
          <a:prstGeom prst="rect">
            <a:avLst/>
          </a:prstGeom>
          <a:noFill/>
          <a:ln/>
        </p:spPr>
        <p:txBody>
          <a:bodyPr wrap="square" lIns="0" tIns="0" rIns="0" bIns="0" rtlCol="0" anchor="t"/>
          <a:lstStyle/>
          <a:p>
            <a:pPr marL="342900" indent="-342900" algn="l">
              <a:lnSpc>
                <a:spcPts val="2300"/>
              </a:lnSpc>
              <a:buSzPct val="100000"/>
              <a:buChar char="•"/>
            </a:pPr>
            <a:r>
              <a:rPr lang="en-US" sz="1550" dirty="0">
                <a:solidFill>
                  <a:srgbClr val="384653"/>
                </a:solidFill>
                <a:latin typeface="Roboto" pitchFamily="34" charset="0"/>
                <a:ea typeface="Roboto" pitchFamily="34" charset="-122"/>
                <a:cs typeface="Roboto" pitchFamily="34" charset="-120"/>
              </a:rPr>
              <a:t>Investigate attention mechanisms to better distinguish similar fashion categories</a:t>
            </a:r>
            <a:endParaRPr lang="en-US" sz="1550" dirty="0"/>
          </a:p>
        </p:txBody>
      </p:sp>
      <p:sp>
        <p:nvSpPr>
          <p:cNvPr id="7" name="Text 5"/>
          <p:cNvSpPr/>
          <p:nvPr/>
        </p:nvSpPr>
        <p:spPr>
          <a:xfrm>
            <a:off x="793790" y="5259467"/>
            <a:ext cx="6279356" cy="595313"/>
          </a:xfrm>
          <a:prstGeom prst="rect">
            <a:avLst/>
          </a:prstGeom>
          <a:noFill/>
          <a:ln/>
        </p:spPr>
        <p:txBody>
          <a:bodyPr wrap="square" lIns="0" tIns="0" rIns="0" bIns="0" rtlCol="0" anchor="t"/>
          <a:lstStyle/>
          <a:p>
            <a:pPr marL="342900" indent="-342900" algn="l">
              <a:lnSpc>
                <a:spcPts val="2300"/>
              </a:lnSpc>
              <a:buSzPct val="100000"/>
              <a:buChar char="•"/>
            </a:pPr>
            <a:r>
              <a:rPr lang="en-US" sz="1550" dirty="0">
                <a:solidFill>
                  <a:srgbClr val="384653"/>
                </a:solidFill>
                <a:latin typeface="Roboto" pitchFamily="34" charset="0"/>
                <a:ea typeface="Roboto" pitchFamily="34" charset="-122"/>
                <a:cs typeface="Roboto" pitchFamily="34" charset="-120"/>
              </a:rPr>
              <a:t>Apply transfer learning from pre-trained models on larger fashion datasets</a:t>
            </a:r>
            <a:endParaRPr lang="en-US" sz="1550" dirty="0"/>
          </a:p>
        </p:txBody>
      </p:sp>
      <p:sp>
        <p:nvSpPr>
          <p:cNvPr id="8" name="Text 6"/>
          <p:cNvSpPr/>
          <p:nvPr/>
        </p:nvSpPr>
        <p:spPr>
          <a:xfrm>
            <a:off x="793790" y="5924193"/>
            <a:ext cx="6279356" cy="595313"/>
          </a:xfrm>
          <a:prstGeom prst="rect">
            <a:avLst/>
          </a:prstGeom>
          <a:noFill/>
          <a:ln/>
        </p:spPr>
        <p:txBody>
          <a:bodyPr wrap="square" lIns="0" tIns="0" rIns="0" bIns="0" rtlCol="0" anchor="t"/>
          <a:lstStyle/>
          <a:p>
            <a:pPr marL="342900" indent="-342900" algn="l">
              <a:lnSpc>
                <a:spcPts val="2300"/>
              </a:lnSpc>
              <a:buSzPct val="100000"/>
              <a:buChar char="•"/>
            </a:pPr>
            <a:r>
              <a:rPr lang="en-US" sz="1550" dirty="0">
                <a:solidFill>
                  <a:srgbClr val="384653"/>
                </a:solidFill>
                <a:latin typeface="Roboto" pitchFamily="34" charset="0"/>
                <a:ea typeface="Roboto" pitchFamily="34" charset="-122"/>
                <a:cs typeface="Roboto" pitchFamily="34" charset="-120"/>
              </a:rPr>
              <a:t>Experiment with ensemble methods combining multiple architectures</a:t>
            </a:r>
            <a:endParaRPr lang="en-US" sz="1550" dirty="0"/>
          </a:p>
        </p:txBody>
      </p:sp>
      <p:sp>
        <p:nvSpPr>
          <p:cNvPr id="9" name="Text 7"/>
          <p:cNvSpPr/>
          <p:nvPr/>
        </p:nvSpPr>
        <p:spPr>
          <a:xfrm>
            <a:off x="7564874" y="2756773"/>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2E3C4E"/>
                </a:solidFill>
                <a:latin typeface="Host Grotesk Medium" pitchFamily="34" charset="0"/>
                <a:ea typeface="Host Grotesk Medium" pitchFamily="34" charset="-122"/>
                <a:cs typeface="Host Grotesk Medium" pitchFamily="34" charset="-120"/>
              </a:rPr>
              <a:t>Acknowledgments</a:t>
            </a:r>
            <a:endParaRPr lang="en-US" sz="1950" dirty="0"/>
          </a:p>
        </p:txBody>
      </p:sp>
      <p:sp>
        <p:nvSpPr>
          <p:cNvPr id="10" name="Text 8"/>
          <p:cNvSpPr/>
          <p:nvPr/>
        </p:nvSpPr>
        <p:spPr>
          <a:xfrm>
            <a:off x="7564874" y="3265289"/>
            <a:ext cx="6279356" cy="892969"/>
          </a:xfrm>
          <a:prstGeom prst="rect">
            <a:avLst/>
          </a:prstGeom>
          <a:noFill/>
          <a:ln/>
        </p:spPr>
        <p:txBody>
          <a:bodyPr wrap="squar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Special thanks to the PyTorch development team for providing excellent deep learning frameworks, and to the creators of the Fashion-MNIST dataset for making this benchmark publicly available.</a:t>
            </a:r>
            <a:endParaRPr lang="en-US" sz="1550" dirty="0"/>
          </a:p>
        </p:txBody>
      </p:sp>
      <p:sp>
        <p:nvSpPr>
          <p:cNvPr id="11" name="Text 9"/>
          <p:cNvSpPr/>
          <p:nvPr/>
        </p:nvSpPr>
        <p:spPr>
          <a:xfrm>
            <a:off x="7564874" y="4336852"/>
            <a:ext cx="6279356" cy="595313"/>
          </a:xfrm>
          <a:prstGeom prst="rect">
            <a:avLst/>
          </a:prstGeom>
          <a:noFill/>
          <a:ln/>
        </p:spPr>
        <p:txBody>
          <a:bodyPr wrap="squar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Gratitude to the academic community for advancing neural network research and sharing best practices in model training and evaluation.</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2837259"/>
            <a:ext cx="13042821" cy="1860590"/>
          </a:xfrm>
          <a:prstGeom prst="rect">
            <a:avLst/>
          </a:prstGeom>
          <a:noFill/>
          <a:ln/>
        </p:spPr>
        <p:txBody>
          <a:bodyPr wrap="none" lIns="0" tIns="0" rIns="0" bIns="0" rtlCol="0" anchor="t"/>
          <a:lstStyle/>
          <a:p>
            <a:pPr marL="0" indent="0" algn="l">
              <a:lnSpc>
                <a:spcPts val="14650"/>
              </a:lnSpc>
              <a:buNone/>
            </a:pPr>
            <a:r>
              <a:rPr lang="en-US" sz="11700" dirty="0">
                <a:solidFill>
                  <a:srgbClr val="2E3C4E"/>
                </a:solidFill>
                <a:latin typeface="Host Grotesk Medium" pitchFamily="34" charset="0"/>
                <a:ea typeface="Host Grotesk Medium" pitchFamily="34" charset="-122"/>
                <a:cs typeface="Host Grotesk Medium" pitchFamily="34" charset="-120"/>
              </a:rPr>
              <a:t>Thank You</a:t>
            </a:r>
            <a:endParaRPr lang="en-US" sz="11700" dirty="0"/>
          </a:p>
        </p:txBody>
      </p:sp>
      <p:sp>
        <p:nvSpPr>
          <p:cNvPr id="3" name="Text 1"/>
          <p:cNvSpPr/>
          <p:nvPr/>
        </p:nvSpPr>
        <p:spPr>
          <a:xfrm>
            <a:off x="793790" y="5094684"/>
            <a:ext cx="13042821" cy="297656"/>
          </a:xfrm>
          <a:prstGeom prst="rect">
            <a:avLst/>
          </a:prstGeom>
          <a:noFill/>
          <a:ln/>
        </p:spPr>
        <p:txBody>
          <a:bodyPr wrap="none" lIns="0" tIns="0" rIns="0" bIns="0" rtlCol="0" anchor="t"/>
          <a:lstStyle/>
          <a:p>
            <a:pPr marL="0" indent="0" algn="l">
              <a:lnSpc>
                <a:spcPts val="2300"/>
              </a:lnSpc>
              <a:buNone/>
            </a:pP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932</Words>
  <Application>Microsoft Office PowerPoint</Application>
  <PresentationFormat>Custom</PresentationFormat>
  <Paragraphs>100</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Host Grotesk Medium</vt:lpstr>
      <vt:lpstr>Host Grotesk Light</vt:lpstr>
      <vt:lpstr>Roboto</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HP</dc:creator>
  <cp:lastModifiedBy>Jahnavi Kodi</cp:lastModifiedBy>
  <cp:revision>3</cp:revision>
  <dcterms:created xsi:type="dcterms:W3CDTF">2025-11-02T16:37:41Z</dcterms:created>
  <dcterms:modified xsi:type="dcterms:W3CDTF">2025-11-04T14:24:48Z</dcterms:modified>
</cp:coreProperties>
</file>